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6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4" r:id="rId6"/>
    <p:sldMasterId id="2147483695" r:id="rId7"/>
    <p:sldMasterId id="2147483707" r:id="rId8"/>
    <p:sldMasterId id="2147483719" r:id="rId9"/>
    <p:sldMasterId id="2147483731" r:id="rId10"/>
    <p:sldMasterId id="2147483743" r:id="rId11"/>
  </p:sldMasterIdLst>
  <p:notesMasterIdLst>
    <p:notesMasterId r:id="rId53"/>
  </p:notesMasterIdLst>
  <p:sldIdLst>
    <p:sldId id="256" r:id="rId12"/>
    <p:sldId id="295" r:id="rId13"/>
    <p:sldId id="296" r:id="rId14"/>
    <p:sldId id="297" r:id="rId15"/>
    <p:sldId id="257" r:id="rId16"/>
    <p:sldId id="274" r:id="rId17"/>
    <p:sldId id="275" r:id="rId18"/>
    <p:sldId id="264" r:id="rId19"/>
    <p:sldId id="260" r:id="rId20"/>
    <p:sldId id="261" r:id="rId21"/>
    <p:sldId id="276" r:id="rId22"/>
    <p:sldId id="263" r:id="rId23"/>
    <p:sldId id="277" r:id="rId24"/>
    <p:sldId id="294" r:id="rId25"/>
    <p:sldId id="262" r:id="rId26"/>
    <p:sldId id="278" r:id="rId27"/>
    <p:sldId id="258" r:id="rId28"/>
    <p:sldId id="259" r:id="rId29"/>
    <p:sldId id="272" r:id="rId30"/>
    <p:sldId id="267" r:id="rId31"/>
    <p:sldId id="279" r:id="rId32"/>
    <p:sldId id="265" r:id="rId33"/>
    <p:sldId id="280" r:id="rId34"/>
    <p:sldId id="292" r:id="rId35"/>
    <p:sldId id="281" r:id="rId36"/>
    <p:sldId id="266" r:id="rId37"/>
    <p:sldId id="293" r:id="rId38"/>
    <p:sldId id="270" r:id="rId39"/>
    <p:sldId id="271" r:id="rId40"/>
    <p:sldId id="291" r:id="rId41"/>
    <p:sldId id="282" r:id="rId42"/>
    <p:sldId id="268" r:id="rId43"/>
    <p:sldId id="283" r:id="rId44"/>
    <p:sldId id="284" r:id="rId45"/>
    <p:sldId id="273" r:id="rId46"/>
    <p:sldId id="285" r:id="rId47"/>
    <p:sldId id="288" r:id="rId48"/>
    <p:sldId id="269" r:id="rId49"/>
    <p:sldId id="286" r:id="rId50"/>
    <p:sldId id="287" r:id="rId51"/>
    <p:sldId id="29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16DF9C-9BC6-C8A7-C62F-443144FFE47F}" v="373" dt="2025-02-09T23:15:16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84423"/>
  </p:normalViewPr>
  <p:slideViewPr>
    <p:cSldViewPr snapToGrid="0">
      <p:cViewPr varScale="1">
        <p:scale>
          <a:sx n="96" d="100"/>
          <a:sy n="96" d="100"/>
        </p:scale>
        <p:origin x="124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50" Type="http://schemas.openxmlformats.org/officeDocument/2006/relationships/slide" Target="slides/slide39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notesMaster" Target="notesMasters/notesMaster1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0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57B6A8-CFFB-2A40-B04D-EEC974945C66}" type="datetimeFigureOut">
              <a:rPr lang="en-AU" smtClean="0"/>
              <a:t>9/02/2025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793AD-1B7A-E144-AEB6-02698CEF26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6113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fluidui.com/" TargetMode="External"/><Relationship Id="rId4" Type="http://schemas.openxmlformats.org/officeDocument/2006/relationships/hyperlink" Target="https://www.framer.com/ui-ux-design-tool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fluidui.com/" TargetMode="External"/><Relationship Id="rId4" Type="http://schemas.openxmlformats.org/officeDocument/2006/relationships/hyperlink" Target="https://www.framer.com/ui-ux-design-tool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AU" dirty="0"/>
              <a:t>Figma: </a:t>
            </a:r>
            <a:r>
              <a:rPr lang="en-AU" dirty="0">
                <a:hlinkClick r:id="rId3"/>
              </a:rPr>
              <a:t>https://www.figma.com/</a:t>
            </a:r>
            <a:endParaRPr lang="en-AU" dirty="0"/>
          </a:p>
          <a:p>
            <a:pPr lvl="0"/>
            <a:endParaRPr lang="en-AU" dirty="0"/>
          </a:p>
          <a:p>
            <a:pPr lvl="0"/>
            <a:r>
              <a:rPr lang="en-AU" dirty="0"/>
              <a:t>Adobe XD &amp; Adobe Photoshop</a:t>
            </a:r>
          </a:p>
          <a:p>
            <a:pPr lvl="0"/>
            <a:endParaRPr lang="en-AU" dirty="0"/>
          </a:p>
          <a:p>
            <a:pPr lvl="0"/>
            <a:r>
              <a:rPr lang="en-AU" dirty="0"/>
              <a:t>Framer: </a:t>
            </a:r>
            <a:r>
              <a:rPr lang="en-AU" dirty="0">
                <a:hlinkClick r:id="rId4"/>
              </a:rPr>
              <a:t>https://www.framer.com/ui-ux-design-tool/</a:t>
            </a:r>
            <a:endParaRPr lang="en-AU" dirty="0"/>
          </a:p>
          <a:p>
            <a:pPr lvl="0"/>
            <a:endParaRPr lang="en-AU" dirty="0"/>
          </a:p>
          <a:p>
            <a:pPr lvl="0"/>
            <a:r>
              <a:rPr lang="en-AU" dirty="0" err="1"/>
              <a:t>FluidUI</a:t>
            </a:r>
            <a:r>
              <a:rPr lang="en-AU" dirty="0"/>
              <a:t>: </a:t>
            </a:r>
            <a:r>
              <a:rPr lang="en-AU" dirty="0">
                <a:hlinkClick r:id="rId5"/>
              </a:rPr>
              <a:t>https://www.fluidui.com/</a:t>
            </a:r>
            <a:endParaRPr lang="en-AU" dirty="0"/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miro.com</a:t>
            </a:r>
            <a:r>
              <a:rPr lang="en-AU" dirty="0"/>
              <a:t>/features/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www.mockplus.com</a:t>
            </a:r>
            <a:r>
              <a:rPr lang="en-AU" dirty="0"/>
              <a:t>/free-wireframing-tool/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wireframe.cc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pencil.evolus.vn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ninjamock.com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www.mockflow.com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www.invisionapp.com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www.axure.com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www.invisionapp.com</a:t>
            </a:r>
            <a:r>
              <a:rPr lang="en-AU" dirty="0"/>
              <a:t>/product/craft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proto.io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marvelapp.com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www.flowmapp.com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origami.design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www.uxpin.com</a:t>
            </a:r>
            <a:r>
              <a:rPr lang="en-AU" dirty="0"/>
              <a:t>/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793AD-1B7A-E144-AEB6-02698CEF2632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089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AU" dirty="0"/>
              <a:t>Figma: </a:t>
            </a:r>
            <a:r>
              <a:rPr lang="en-AU" dirty="0">
                <a:hlinkClick r:id="rId3"/>
              </a:rPr>
              <a:t>https://www.figma.com/</a:t>
            </a:r>
            <a:endParaRPr lang="en-AU" dirty="0"/>
          </a:p>
          <a:p>
            <a:pPr lvl="0"/>
            <a:endParaRPr lang="en-AU" dirty="0"/>
          </a:p>
          <a:p>
            <a:pPr lvl="0"/>
            <a:r>
              <a:rPr lang="en-AU" dirty="0"/>
              <a:t>Adobe XD &amp; Adobe Photoshop</a:t>
            </a:r>
          </a:p>
          <a:p>
            <a:pPr lvl="0"/>
            <a:endParaRPr lang="en-AU" dirty="0"/>
          </a:p>
          <a:p>
            <a:pPr lvl="0"/>
            <a:r>
              <a:rPr lang="en-AU" dirty="0"/>
              <a:t>Framer: </a:t>
            </a:r>
            <a:r>
              <a:rPr lang="en-AU" dirty="0">
                <a:hlinkClick r:id="rId4"/>
              </a:rPr>
              <a:t>https://www.framer.com/ui-ux-design-tool/</a:t>
            </a:r>
            <a:endParaRPr lang="en-AU" dirty="0"/>
          </a:p>
          <a:p>
            <a:pPr lvl="0"/>
            <a:endParaRPr lang="en-AU" dirty="0"/>
          </a:p>
          <a:p>
            <a:pPr lvl="0"/>
            <a:r>
              <a:rPr lang="en-AU" dirty="0" err="1"/>
              <a:t>FluidUI</a:t>
            </a:r>
            <a:r>
              <a:rPr lang="en-AU" dirty="0"/>
              <a:t>: </a:t>
            </a:r>
            <a:r>
              <a:rPr lang="en-AU" dirty="0">
                <a:hlinkClick r:id="rId5"/>
              </a:rPr>
              <a:t>https://www.fluidui.com/</a:t>
            </a:r>
            <a:endParaRPr lang="en-AU" dirty="0"/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miro.com</a:t>
            </a:r>
            <a:r>
              <a:rPr lang="en-AU" dirty="0"/>
              <a:t>/features/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www.mockplus.com</a:t>
            </a:r>
            <a:r>
              <a:rPr lang="en-AU" dirty="0"/>
              <a:t>/free-wireframing-tool/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wireframe.cc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pencil.evolus.vn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ninjamock.com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www.mockflow.com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www.invisionapp.com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www.axure.com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www.invisionapp.com</a:t>
            </a:r>
            <a:r>
              <a:rPr lang="en-AU" dirty="0"/>
              <a:t>/product/craft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proto.io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marvelapp.com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www.flowmapp.com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origami.design</a:t>
            </a:r>
            <a:r>
              <a:rPr lang="en-AU" dirty="0"/>
              <a:t>/</a:t>
            </a:r>
          </a:p>
          <a:p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www.uxpin.com</a:t>
            </a:r>
            <a:r>
              <a:rPr lang="en-AU" dirty="0"/>
              <a:t>/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D793AD-1B7A-E144-AEB6-02698CEF2632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6608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E0B5-B9F4-4034-ABB4-DBED397D3242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8768681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E0B5-B9F4-4034-ABB4-DBED397D32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815599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E0B5-B9F4-4034-ABB4-DBED397D32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47231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E0B5-B9F4-4034-ABB4-DBED397D32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7884974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E0B5-B9F4-4034-ABB4-DBED397D32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6845118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E0B5-B9F4-4034-ABB4-DBED397D32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343158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E0B5-B9F4-4034-ABB4-DBED397D32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3726326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E0B5-B9F4-4034-ABB4-DBED397D32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628024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E0B5-B9F4-4034-ABB4-DBED397D32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7668662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E0B5-B9F4-4034-ABB4-DBED397D3242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77020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FCE0A-AB5A-4C95-8265-5F9FBA02494C}" type="datetimeFigureOut">
              <a:rPr lang="en-AU" smtClean="0"/>
              <a:t>9/02/2025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AE0B5-B9F4-4034-ABB4-DBED397D32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7006791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3755685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025480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4320367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7613198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2613970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4987357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0123974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100496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6947877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7962609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7527548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59211814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0642124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3902336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5989548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7703517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8191916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3405084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9934666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2681469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08029752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0953858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1944791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4080437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84325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0058766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2100569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4380461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801349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532377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93600029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4140796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4636595"/>
      </p:ext>
    </p:extLst>
  </p:cSld>
  <p:clrMapOvr>
    <a:masterClrMapping/>
  </p:clrMapOvr>
  <p:transition spd="slow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9794997"/>
      </p:ext>
    </p:extLst>
  </p:cSld>
  <p:clrMapOvr>
    <a:masterClrMapping/>
  </p:clrMapOvr>
  <p:transition spd="slow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0243366"/>
      </p:ext>
    </p:extLst>
  </p:cSld>
  <p:clrMapOvr>
    <a:masterClrMapping/>
  </p:clrMapOvr>
  <p:transition spd="slow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1248344"/>
      </p:ext>
    </p:extLst>
  </p:cSld>
  <p:clrMapOvr>
    <a:masterClrMapping/>
  </p:clrMapOvr>
  <p:transition spd="slow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2852926"/>
      </p:ext>
    </p:extLst>
  </p:cSld>
  <p:clrMapOvr>
    <a:masterClrMapping/>
  </p:clrMapOvr>
  <p:transition spd="slow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16733"/>
      </p:ext>
    </p:extLst>
  </p:cSld>
  <p:clrMapOvr>
    <a:masterClrMapping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4878219"/>
      </p:ext>
    </p:extLst>
  </p:cSld>
  <p:clrMapOvr>
    <a:masterClrMapping/>
  </p:clrMapOvr>
  <p:transition spd="slow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771124"/>
      </p:ext>
    </p:extLst>
  </p:cSld>
  <p:clrMapOvr>
    <a:masterClrMapping/>
  </p:clrMapOvr>
  <p:transition spd="slow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117935"/>
      </p:ext>
    </p:extLst>
  </p:cSld>
  <p:clrMapOvr>
    <a:masterClrMapping/>
  </p:clrMapOvr>
  <p:transition spd="slow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2985684"/>
      </p:ext>
    </p:extLst>
  </p:cSld>
  <p:clrMapOvr>
    <a:masterClrMapping/>
  </p:clrMapOvr>
  <p:transition spd="slow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1271362"/>
      </p:ext>
    </p:extLst>
  </p:cSld>
  <p:clrMapOvr>
    <a:masterClrMapping/>
  </p:clrMapOvr>
  <p:transition spd="slow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2538849"/>
      </p:ext>
    </p:extLst>
  </p:cSld>
  <p:clrMapOvr>
    <a:masterClrMapping/>
  </p:clrMapOvr>
  <p:transition spd="slow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8545750"/>
      </p:ext>
    </p:extLst>
  </p:cSld>
  <p:clrMapOvr>
    <a:masterClrMapping/>
  </p:clrMapOvr>
  <p:transition spd="slow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558184"/>
      </p:ext>
    </p:extLst>
  </p:cSld>
  <p:clrMapOvr>
    <a:masterClrMapping/>
  </p:clrMapOvr>
  <p:transition spd="slow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877271"/>
      </p:ext>
    </p:extLst>
  </p:cSld>
  <p:clrMapOvr>
    <a:masterClrMapping/>
  </p:clrMapOvr>
  <p:transition spd="slow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5121462"/>
      </p:ext>
    </p:extLst>
  </p:cSld>
  <p:clrMapOvr>
    <a:masterClrMapping/>
  </p:clrMapOvr>
  <p:transition spd="slow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6795649"/>
      </p:ext>
    </p:extLst>
  </p:cSld>
  <p:clrMapOvr>
    <a:masterClrMapping/>
  </p:clrMapOvr>
  <p:transition spd="slow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4734764"/>
      </p:ext>
    </p:extLst>
  </p:cSld>
  <p:clrMapOvr>
    <a:masterClrMapping/>
  </p:clrMapOvr>
  <p:transition spd="slow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8362164"/>
      </p:ext>
    </p:extLst>
  </p:cSld>
  <p:clrMapOvr>
    <a:masterClrMapping/>
  </p:clrMapOvr>
  <p:transition spd="slow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587139"/>
      </p:ext>
    </p:extLst>
  </p:cSld>
  <p:clrMapOvr>
    <a:masterClrMapping/>
  </p:clrMapOvr>
  <p:transition spd="slow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0029041"/>
      </p:ext>
    </p:extLst>
  </p:cSld>
  <p:clrMapOvr>
    <a:masterClrMapping/>
  </p:clrMapOvr>
  <p:transition spd="slow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950957"/>
      </p:ext>
    </p:extLst>
  </p:cSld>
  <p:clrMapOvr>
    <a:masterClrMapping/>
  </p:clrMapOvr>
  <p:transition spd="slow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6629220"/>
      </p:ext>
    </p:extLst>
  </p:cSld>
  <p:clrMapOvr>
    <a:masterClrMapping/>
  </p:clrMapOvr>
  <p:transition spd="slow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573380"/>
      </p:ext>
    </p:extLst>
  </p:cSld>
  <p:clrMapOvr>
    <a:masterClrMapping/>
  </p:clrMapOvr>
  <p:transition spd="slow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3073126"/>
      </p:ext>
    </p:extLst>
  </p:cSld>
  <p:clrMapOvr>
    <a:masterClrMapping/>
  </p:clrMapOvr>
  <p:transition spd="slow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7694421"/>
      </p:ext>
    </p:extLst>
  </p:cSld>
  <p:clrMapOvr>
    <a:masterClrMapping/>
  </p:clrMapOvr>
  <p:transition spd="slow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743869"/>
      </p:ext>
    </p:extLst>
  </p:cSld>
  <p:clrMapOvr>
    <a:masterClrMapping/>
  </p:clrMapOvr>
  <p:transition spd="slow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7924620"/>
      </p:ext>
    </p:extLst>
  </p:cSld>
  <p:clrMapOvr>
    <a:masterClrMapping/>
  </p:clrMapOvr>
  <p:transition spd="slow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0893726"/>
      </p:ext>
    </p:extLst>
  </p:cSld>
  <p:clrMapOvr>
    <a:masterClrMapping/>
  </p:clrMapOvr>
  <p:transition spd="slow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6688467"/>
      </p:ext>
    </p:extLst>
  </p:cSld>
  <p:clrMapOvr>
    <a:masterClrMapping/>
  </p:clrMapOvr>
  <p:transition spd="slow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5414651"/>
      </p:ext>
    </p:extLst>
  </p:cSld>
  <p:clrMapOvr>
    <a:masterClrMapping/>
  </p:clrMapOvr>
  <p:transition spd="slow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3208762"/>
      </p:ext>
    </p:extLst>
  </p:cSld>
  <p:clrMapOvr>
    <a:masterClrMapping/>
  </p:clrMapOvr>
  <p:transition spd="slow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16648"/>
      </p:ext>
    </p:extLst>
  </p:cSld>
  <p:clrMapOvr>
    <a:masterClrMapping/>
  </p:clrMapOvr>
  <p:transition spd="slow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01134507"/>
      </p:ext>
    </p:extLst>
  </p:cSld>
  <p:clrMapOvr>
    <a:masterClrMapping/>
  </p:clrMapOvr>
  <p:transition spd="slow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4636496"/>
      </p:ext>
    </p:extLst>
  </p:cSld>
  <p:clrMapOvr>
    <a:masterClrMapping/>
  </p:clrMapOvr>
  <p:transition spd="slow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3446603"/>
      </p:ext>
    </p:extLst>
  </p:cSld>
  <p:clrMapOvr>
    <a:masterClrMapping/>
  </p:clrMapOvr>
  <p:transition spd="slow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1595362"/>
      </p:ext>
    </p:extLst>
  </p:cSld>
  <p:clrMapOvr>
    <a:masterClrMapping/>
  </p:clrMapOvr>
  <p:transition spd="slow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9691551"/>
      </p:ext>
    </p:extLst>
  </p:cSld>
  <p:clrMapOvr>
    <a:masterClrMapping/>
  </p:clrMapOvr>
  <p:transition spd="slow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6262572"/>
      </p:ext>
    </p:extLst>
  </p:cSld>
  <p:clrMapOvr>
    <a:masterClrMapping/>
  </p:clrMapOvr>
  <p:transition spd="slow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3857069"/>
      </p:ext>
    </p:extLst>
  </p:cSld>
  <p:clrMapOvr>
    <a:masterClrMapping/>
  </p:clrMapOvr>
  <p:transition spd="slow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3461125"/>
      </p:ext>
    </p:extLst>
  </p:cSld>
  <p:clrMapOvr>
    <a:masterClrMapping/>
  </p:clrMapOvr>
  <p:transition spd="slow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6298240"/>
      </p:ext>
    </p:extLst>
  </p:cSld>
  <p:clrMapOvr>
    <a:masterClrMapping/>
  </p:clrMapOvr>
  <p:transition spd="slow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9141864"/>
      </p:ext>
    </p:extLst>
  </p:cSld>
  <p:clrMapOvr>
    <a:masterClrMapping/>
  </p:clrMapOvr>
  <p:transition spd="slow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793787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image" Target="../media/image3.jp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3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83534100-8659-644F-BF36-0A7DE4E8CDA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5000" y="219807"/>
            <a:ext cx="10287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60AE0B5-B9F4-4034-ABB4-DBED397D3242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AB6E3-7A68-1542-0011-C55D0916044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326088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0D22D-A7DC-EA81-7CEA-8312144E8DC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4482401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940BCE-B13A-5F45-2D0A-BF450A02D21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3261679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5EA009-8B07-8CD0-11CA-A50CFA5A2B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0017676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A7CC75FF-9724-8147-A0FC-729B7F64182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531C7A-4E75-2301-5239-7ADE23F413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5518542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277F34-0CA5-4BF0-AC5F-CCCFE10F024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4040972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FE6B61-6C08-5254-1BA3-D41F0C43EC4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7681104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F0053-22C8-4A7E-E4D1-A94DB82BEC5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4206191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flatuicolors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material.io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ribbble.com/AntonSKV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Y96hTb8WgI?feature=oembed" TargetMode="External"/><Relationship Id="rId4" Type="http://schemas.openxmlformats.org/officeDocument/2006/relationships/hyperlink" Target="https://www.youtube.com/watch?v=yY96hTb8WgI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2B0D8-AE4E-4A40-8487-8EA0F1CA5D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Mobile UX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384F3-25B4-4599-957D-A14D06613C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A look at the elements of mobile UX design, </a:t>
            </a:r>
            <a:br>
              <a:rPr lang="en-AU" dirty="0"/>
            </a:br>
            <a:r>
              <a:rPr lang="en-AU" dirty="0"/>
              <a:t>best practice and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034792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1589-B00C-042D-2032-35A7087CE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Let's start at the very beginning...</a:t>
            </a:r>
          </a:p>
        </p:txBody>
      </p:sp>
      <p:pic>
        <p:nvPicPr>
          <p:cNvPr id="4" name="Content Placeholder 3" descr="Software development life-cycle (SDLC) | Software development life cycle,  Development life cycle, Software development">
            <a:extLst>
              <a:ext uri="{FF2B5EF4-FFF2-40B4-BE49-F238E27FC236}">
                <a16:creationId xmlns:a16="http://schemas.microsoft.com/office/drawing/2014/main" id="{0789BAF0-A5ED-125C-8EE1-CF0A0C96B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4656" r="29100"/>
          <a:stretch/>
        </p:blipFill>
        <p:spPr>
          <a:xfrm>
            <a:off x="3901555" y="1816444"/>
            <a:ext cx="4007975" cy="4351338"/>
          </a:xfr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780B775-8E23-4D93-2288-E4AE3E06CA5B}"/>
              </a:ext>
            </a:extLst>
          </p:cNvPr>
          <p:cNvSpPr/>
          <p:nvPr/>
        </p:nvSpPr>
        <p:spPr>
          <a:xfrm>
            <a:off x="4975588" y="2958729"/>
            <a:ext cx="1932541" cy="191248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106046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025CE-521F-EBF6-A853-B39E9FD9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...A very good place to start.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E642C-0F63-BC58-3838-9C07CDFF4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ea typeface="Calibri"/>
                <a:cs typeface="Calibri"/>
              </a:rPr>
              <a:t>Planning, Analysis &amp; Design</a:t>
            </a:r>
            <a:endParaRPr lang="en-US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GB" dirty="0">
                <a:ea typeface="Calibri"/>
                <a:cs typeface="Calibri"/>
              </a:rPr>
              <a:t>What do you need to know before you can design an app?</a:t>
            </a:r>
          </a:p>
          <a:p>
            <a:pPr>
              <a:lnSpc>
                <a:spcPct val="150000"/>
              </a:lnSpc>
            </a:pPr>
            <a:r>
              <a:rPr lang="en-GB" dirty="0">
                <a:ea typeface="Calibri"/>
                <a:cs typeface="Calibri"/>
              </a:rPr>
              <a:t>Analyse who/what?</a:t>
            </a:r>
          </a:p>
          <a:p>
            <a:endParaRPr lang="en-GB" dirty="0">
              <a:ea typeface="Calibri"/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014384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08BF-771E-32A4-3A42-BD8EE400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Requirements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47071-AB06-1ACB-711A-190D5B304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>
                <a:ea typeface="Calibri"/>
                <a:cs typeface="Calibri"/>
              </a:rPr>
              <a:t>What is the main objective of the application?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20000"/>
              </a:lnSpc>
            </a:pPr>
            <a:r>
              <a:rPr lang="en-GB" dirty="0">
                <a:ea typeface="Calibri"/>
                <a:cs typeface="Calibri"/>
              </a:rPr>
              <a:t>What are the goals or </a:t>
            </a:r>
            <a:r>
              <a:rPr lang="en-GB" u="sng" dirty="0">
                <a:ea typeface="Calibri"/>
                <a:cs typeface="Calibri"/>
              </a:rPr>
              <a:t>use cases</a:t>
            </a:r>
            <a:r>
              <a:rPr lang="en-GB" dirty="0">
                <a:ea typeface="Calibri"/>
                <a:cs typeface="Calibri"/>
              </a:rPr>
              <a:t> of the app?</a:t>
            </a:r>
          </a:p>
          <a:p>
            <a:pPr>
              <a:lnSpc>
                <a:spcPct val="120000"/>
              </a:lnSpc>
            </a:pPr>
            <a:r>
              <a:rPr lang="en-GB">
                <a:ea typeface="Calibri"/>
                <a:cs typeface="Calibri"/>
              </a:rPr>
              <a:t>Requirements / Features?</a:t>
            </a:r>
          </a:p>
          <a:p>
            <a:pPr>
              <a:lnSpc>
                <a:spcPct val="120000"/>
              </a:lnSpc>
            </a:pPr>
            <a:r>
              <a:rPr lang="en-GB" dirty="0">
                <a:ea typeface="Calibri"/>
                <a:cs typeface="Calibri"/>
              </a:rPr>
              <a:t>User Stories?</a:t>
            </a:r>
          </a:p>
          <a:p>
            <a:pPr>
              <a:lnSpc>
                <a:spcPct val="120000"/>
              </a:lnSpc>
            </a:pPr>
            <a:r>
              <a:rPr lang="en-GB" dirty="0">
                <a:ea typeface="Calibri"/>
                <a:cs typeface="Calibri"/>
              </a:rPr>
              <a:t>MOSCOW – Must, should, could, would like.</a:t>
            </a:r>
          </a:p>
          <a:p>
            <a:pPr>
              <a:lnSpc>
                <a:spcPct val="120000"/>
              </a:lnSpc>
            </a:pPr>
            <a:r>
              <a:rPr lang="en-GB">
                <a:ea typeface="Calibri"/>
                <a:cs typeface="Calibri"/>
              </a:rPr>
              <a:t>Prioritisation – Not only what it should do but how important to the goals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3520323489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38E4-5527-4E57-95C2-EE739EA6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UX?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25F66-BB27-477C-958D-559EA6D56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What's the difference between UI/UX?</a:t>
            </a:r>
            <a:endParaRPr lang="en-US"/>
          </a:p>
          <a:p>
            <a:pPr lvl="1">
              <a:lnSpc>
                <a:spcPct val="150000"/>
              </a:lnSpc>
            </a:pPr>
            <a:r>
              <a:rPr lang="en-AU" dirty="0"/>
              <a:t>UI – Visual Interface</a:t>
            </a:r>
            <a:endParaRPr lang="en-AU" dirty="0"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150000"/>
              </a:lnSpc>
            </a:pPr>
            <a:r>
              <a:rPr lang="en-AU" dirty="0"/>
              <a:t>UX – User Experience</a:t>
            </a:r>
            <a:endParaRPr lang="en-AU" dirty="0">
              <a:ea typeface="Calibri" panose="020F0502020204030204"/>
              <a:cs typeface="Calibri" panose="020F0502020204030204"/>
            </a:endParaRP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81343974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38E4-5527-4E57-95C2-EE739EA6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UX?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25F66-BB27-477C-958D-559EA6D56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Interface</a:t>
            </a:r>
          </a:p>
          <a:p>
            <a:pPr lvl="1"/>
            <a:r>
              <a:rPr lang="en-AU" dirty="0"/>
              <a:t>The elements that go into representing the application visually to the user: Buttons, lists, images, etc.</a:t>
            </a:r>
          </a:p>
          <a:p>
            <a:pPr lvl="1"/>
            <a:endParaRPr lang="en-AU" dirty="0"/>
          </a:p>
          <a:p>
            <a:r>
              <a:rPr lang="en-AU" dirty="0"/>
              <a:t>Experience</a:t>
            </a:r>
          </a:p>
          <a:p>
            <a:pPr lvl="1"/>
            <a:r>
              <a:rPr lang="en-AU" dirty="0"/>
              <a:t>How (easily) the user manipulates these elements to interact with the application.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2383147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38E4-5527-4E57-95C2-EE739EA6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UX?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25F66-BB27-477C-958D-559EA6D56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The two elements are closely tied together and often referred to as one and the same, however they are subtly different.</a:t>
            </a:r>
          </a:p>
          <a:p>
            <a:endParaRPr lang="en-AU" dirty="0"/>
          </a:p>
          <a:p>
            <a:r>
              <a:rPr lang="en-AU" dirty="0"/>
              <a:t>Good UX is invisible, </a:t>
            </a:r>
            <a:br>
              <a:rPr lang="en-AU" dirty="0"/>
            </a:br>
            <a:r>
              <a:rPr lang="en-AU" dirty="0"/>
              <a:t>Bad UX is very, very visible.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149246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592C8A3-13B1-A645-89E2-E8A52AC78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Wrong?</a:t>
            </a:r>
          </a:p>
        </p:txBody>
      </p:sp>
      <p:pic>
        <p:nvPicPr>
          <p:cNvPr id="5" name="Picture 2" descr="Door that says 'pull' with no handle to pull on">
            <a:extLst>
              <a:ext uri="{FF2B5EF4-FFF2-40B4-BE49-F238E27FC236}">
                <a16:creationId xmlns:a16="http://schemas.microsoft.com/office/drawing/2014/main" id="{C653A5EB-5E6D-A347-AD75-D80836FF14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5" t="3258" r="23770" b="3434"/>
          <a:stretch/>
        </p:blipFill>
        <p:spPr bwMode="auto">
          <a:xfrm>
            <a:off x="5076823" y="292100"/>
            <a:ext cx="4781551" cy="627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179581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2E6565-F16A-4590-B992-CED5750BC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Mobile Design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62131F-1425-4DEB-B91D-A5F572990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Discussing the elements of designing for a mobile device</a:t>
            </a:r>
          </a:p>
        </p:txBody>
      </p:sp>
    </p:spTree>
    <p:extLst>
      <p:ext uri="{BB962C8B-B14F-4D97-AF65-F5344CB8AC3E}">
        <p14:creationId xmlns:p14="http://schemas.microsoft.com/office/powerpoint/2010/main" val="433020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9615A9-6E8C-4B89-8A7E-D7EAD197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Mobile User Input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7C9356-BAE4-4D45-99DB-10497B176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When we design UX we must consider how the user will navigate and perform tasks in the application</a:t>
            </a:r>
          </a:p>
          <a:p>
            <a:endParaRPr lang="en-AU" dirty="0"/>
          </a:p>
          <a:p>
            <a:r>
              <a:rPr lang="en-AU" dirty="0"/>
              <a:t>How do users interact with a mobile device?</a:t>
            </a:r>
          </a:p>
          <a:p>
            <a:pPr lvl="1"/>
            <a:r>
              <a:rPr lang="en-AU" dirty="0"/>
              <a:t>Touch Screen + Fingers / Stylus / Other</a:t>
            </a:r>
          </a:p>
          <a:p>
            <a:pPr lvl="1"/>
            <a:r>
              <a:rPr lang="en-AU" dirty="0"/>
              <a:t>Sometimes not at all: “How can I help?” – Siri</a:t>
            </a:r>
          </a:p>
          <a:p>
            <a:pPr lvl="1"/>
            <a:r>
              <a:rPr lang="en-AU" dirty="0"/>
              <a:t>Gestures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049686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9615A9-6E8C-4B89-8A7E-D7EAD197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Mobile User Input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7C9356-BAE4-4D45-99DB-10497B176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Mobile has limited options when it comes to inputs – it’s touch based.</a:t>
            </a:r>
          </a:p>
          <a:p>
            <a:endParaRPr lang="en-AU" dirty="0"/>
          </a:p>
          <a:p>
            <a:r>
              <a:rPr lang="en-AU" dirty="0"/>
              <a:t>These limitations impact how we design the user interface.</a:t>
            </a:r>
          </a:p>
          <a:p>
            <a:endParaRPr lang="en-AU" dirty="0"/>
          </a:p>
          <a:p>
            <a:r>
              <a:rPr lang="en-AU" dirty="0"/>
              <a:t>How is this limitation overcome?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3589150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9615A9-6E8C-4B89-8A7E-D7EAD197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Mobile User Input Cont.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7C9356-BAE4-4D45-99DB-10497B176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Touch screens are better at allowing direct interaction with a UI. Users can move, swipe, drag and drop the elements in the UI to control behaviour of the application</a:t>
            </a:r>
          </a:p>
          <a:p>
            <a:endParaRPr lang="en-AU" dirty="0"/>
          </a:p>
          <a:p>
            <a:r>
              <a:rPr lang="en-AU" dirty="0"/>
              <a:t>Contextual Input – The same input responds differently on different views, items, buttons etc.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4064665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9615A9-6E8C-4B89-8A7E-D7EAD197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Mobile User Input Cont.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7C9356-BAE4-4D45-99DB-10497B176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How many examples of user interaction on mobile that have been reduced to a simple movement?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673291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9615A9-6E8C-4B89-8A7E-D7EAD197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Exercise: User Input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7C9356-BAE4-4D45-99DB-10497B176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Pick an app on your mobile device, look through the app performing various tasks and consciously think about the inputs your using</a:t>
            </a:r>
          </a:p>
          <a:p>
            <a:endParaRPr lang="en-AU" dirty="0"/>
          </a:p>
          <a:p>
            <a:r>
              <a:rPr lang="en-AU" dirty="0"/>
              <a:t>Do you do something without thinking it?</a:t>
            </a:r>
          </a:p>
          <a:p>
            <a:pPr lvl="1"/>
            <a:r>
              <a:rPr lang="en-AU" dirty="0"/>
              <a:t>Think of the Gallery/Photos</a:t>
            </a:r>
            <a:br>
              <a:rPr lang="en-AU" dirty="0"/>
            </a:br>
            <a:r>
              <a:rPr lang="en-AU" dirty="0"/>
              <a:t>How do you move between photos or get back?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9930168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6120B-6C06-4061-829D-F6C3E186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Interface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D5B2-45D7-4905-8045-2CACD59B6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As our means of controlling the application and providing input are reduced so are the elements we can use</a:t>
            </a:r>
          </a:p>
          <a:p>
            <a:endParaRPr lang="en-AU" dirty="0"/>
          </a:p>
          <a:p>
            <a:r>
              <a:rPr lang="en-AU" dirty="0"/>
              <a:t>It’s the functionality and gestures that allow us to achieve the user control in mobile apps</a:t>
            </a:r>
          </a:p>
        </p:txBody>
      </p:sp>
    </p:spTree>
    <p:extLst>
      <p:ext uri="{BB962C8B-B14F-4D97-AF65-F5344CB8AC3E}">
        <p14:creationId xmlns:p14="http://schemas.microsoft.com/office/powerpoint/2010/main" val="3576359616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6120B-6C06-4061-829D-F6C3E186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Interface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D5B2-45D7-4905-8045-2CACD59B6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Example Controls:</a:t>
            </a:r>
          </a:p>
          <a:p>
            <a:pPr lvl="1"/>
            <a:r>
              <a:rPr lang="en-AU" dirty="0"/>
              <a:t>Text Fields</a:t>
            </a:r>
          </a:p>
          <a:p>
            <a:pPr lvl="1"/>
            <a:r>
              <a:rPr lang="en-AU" dirty="0"/>
              <a:t>Buttons</a:t>
            </a:r>
          </a:p>
          <a:p>
            <a:pPr lvl="1"/>
            <a:r>
              <a:rPr lang="en-AU" dirty="0"/>
              <a:t>Toggles</a:t>
            </a:r>
          </a:p>
          <a:p>
            <a:pPr lvl="1"/>
            <a:r>
              <a:rPr lang="en-AU" dirty="0" err="1"/>
              <a:t>Navs</a:t>
            </a:r>
            <a:r>
              <a:rPr lang="en-AU" dirty="0"/>
              <a:t>/Tabs</a:t>
            </a:r>
          </a:p>
          <a:p>
            <a:pPr lvl="1"/>
            <a:r>
              <a:rPr lang="en-AU" dirty="0"/>
              <a:t>Lists/Cards/Cells</a:t>
            </a:r>
          </a:p>
          <a:p>
            <a:pPr lvl="1"/>
            <a:r>
              <a:rPr lang="en-AU" dirty="0"/>
              <a:t>Etc…</a:t>
            </a:r>
          </a:p>
          <a:p>
            <a:r>
              <a:rPr lang="en-AU" dirty="0"/>
              <a:t>When broken down there are actually very few elements in mobile interfaces.</a:t>
            </a:r>
          </a:p>
        </p:txBody>
      </p:sp>
    </p:spTree>
    <p:extLst>
      <p:ext uri="{BB962C8B-B14F-4D97-AF65-F5344CB8AC3E}">
        <p14:creationId xmlns:p14="http://schemas.microsoft.com/office/powerpoint/2010/main" val="697242897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2E6565-F16A-4590-B992-CED5750BC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UI Design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62131F-1425-4DEB-B91D-A5F572990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visual elements that represent the interface of an application</a:t>
            </a:r>
          </a:p>
        </p:txBody>
      </p:sp>
    </p:spTree>
    <p:extLst>
      <p:ext uri="{BB962C8B-B14F-4D97-AF65-F5344CB8AC3E}">
        <p14:creationId xmlns:p14="http://schemas.microsoft.com/office/powerpoint/2010/main" val="1060186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2E6565-F16A-4590-B992-CED5750BC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UI Design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62131F-1425-4DEB-B91D-A5F572990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In UI design there are often style designs, commonly set by trends that highlight the elements of an interface.</a:t>
            </a:r>
          </a:p>
          <a:p>
            <a:r>
              <a:rPr lang="en-AU" dirty="0"/>
              <a:t>These elements are:</a:t>
            </a:r>
          </a:p>
          <a:p>
            <a:pPr lvl="1"/>
            <a:r>
              <a:rPr lang="en-AU" dirty="0"/>
              <a:t>Inputs</a:t>
            </a:r>
          </a:p>
          <a:p>
            <a:pPr lvl="1"/>
            <a:r>
              <a:rPr lang="en-AU" dirty="0"/>
              <a:t>Navigation</a:t>
            </a:r>
          </a:p>
          <a:p>
            <a:pPr lvl="1"/>
            <a:r>
              <a:rPr lang="en-AU" dirty="0"/>
              <a:t>Information</a:t>
            </a:r>
          </a:p>
          <a:p>
            <a:pPr lvl="1"/>
            <a:r>
              <a:rPr lang="en-AU" dirty="0"/>
              <a:t>Containers</a:t>
            </a:r>
          </a:p>
          <a:p>
            <a:pPr lvl="1"/>
            <a:r>
              <a:rPr lang="en-AU" dirty="0"/>
              <a:t>Collections</a:t>
            </a:r>
          </a:p>
        </p:txBody>
      </p:sp>
    </p:spTree>
    <p:extLst>
      <p:ext uri="{BB962C8B-B14F-4D97-AF65-F5344CB8AC3E}">
        <p14:creationId xmlns:p14="http://schemas.microsoft.com/office/powerpoint/2010/main" val="1564073781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F707-F7F6-4CB2-8E3F-B5F6BA2A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Components of UI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24ADA-967C-49C2-BE09-F8252EB6D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Each element can be varied in its components:</a:t>
            </a:r>
          </a:p>
          <a:p>
            <a:pPr lvl="1"/>
            <a:r>
              <a:rPr lang="en-AU" dirty="0"/>
              <a:t>Colour</a:t>
            </a:r>
          </a:p>
          <a:p>
            <a:pPr lvl="1"/>
            <a:r>
              <a:rPr lang="en-AU" dirty="0"/>
              <a:t>Depth</a:t>
            </a:r>
          </a:p>
          <a:p>
            <a:pPr lvl="1"/>
            <a:r>
              <a:rPr lang="en-AU" dirty="0"/>
              <a:t>Animation/Motion</a:t>
            </a:r>
          </a:p>
          <a:p>
            <a:pPr lvl="1"/>
            <a:r>
              <a:rPr lang="en-AU" dirty="0"/>
              <a:t>Shadows (or there lack of)</a:t>
            </a:r>
          </a:p>
          <a:p>
            <a:pPr lvl="1"/>
            <a:r>
              <a:rPr lang="en-AU" dirty="0"/>
              <a:t>Typography</a:t>
            </a:r>
          </a:p>
          <a:p>
            <a:pPr lvl="1"/>
            <a:r>
              <a:rPr lang="en-AU" dirty="0"/>
              <a:t>Scalability &amp; Screen size</a:t>
            </a:r>
          </a:p>
        </p:txBody>
      </p:sp>
    </p:spTree>
    <p:extLst>
      <p:ext uri="{BB962C8B-B14F-4D97-AF65-F5344CB8AC3E}">
        <p14:creationId xmlns:p14="http://schemas.microsoft.com/office/powerpoint/2010/main" val="63795845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24D8-DBCD-45BC-BD03-CB149CCE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Flat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FD7DD-3676-4783-99A4-45407633B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Invisible design – a UI design that’s not noticeable</a:t>
            </a:r>
          </a:p>
          <a:p>
            <a:endParaRPr lang="en-AU" dirty="0"/>
          </a:p>
          <a:p>
            <a:r>
              <a:rPr lang="en-AU" dirty="0"/>
              <a:t>Strips back design elements simplifying and prioritising use and function</a:t>
            </a:r>
          </a:p>
          <a:p>
            <a:endParaRPr lang="en-AU" dirty="0"/>
          </a:p>
          <a:p>
            <a:r>
              <a:rPr lang="en-AU" dirty="0"/>
              <a:t>Minimalist</a:t>
            </a:r>
          </a:p>
        </p:txBody>
      </p:sp>
    </p:spTree>
    <p:extLst>
      <p:ext uri="{BB962C8B-B14F-4D97-AF65-F5344CB8AC3E}">
        <p14:creationId xmlns:p14="http://schemas.microsoft.com/office/powerpoint/2010/main" val="3697027710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24D8-DBCD-45BC-BD03-CB149CCE9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Flat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FD7DD-3676-4783-99A4-45407633B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Uses subtle shadows to convey layers and priority when working with multiple screens/views</a:t>
            </a:r>
          </a:p>
          <a:p>
            <a:endParaRPr lang="en-AU" dirty="0"/>
          </a:p>
          <a:p>
            <a:r>
              <a:rPr lang="en-AU" dirty="0"/>
              <a:t>Bold </a:t>
            </a:r>
            <a:r>
              <a:rPr lang="en-AU" dirty="0">
                <a:hlinkClick r:id="rId2"/>
              </a:rPr>
              <a:t>colours</a:t>
            </a:r>
            <a:r>
              <a:rPr lang="en-AU" dirty="0"/>
              <a:t> but complimentary and intentional vibrancy donates importance</a:t>
            </a:r>
          </a:p>
        </p:txBody>
      </p:sp>
    </p:spTree>
    <p:extLst>
      <p:ext uri="{BB962C8B-B14F-4D97-AF65-F5344CB8AC3E}">
        <p14:creationId xmlns:p14="http://schemas.microsoft.com/office/powerpoint/2010/main" val="3964421704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1D20-CB9D-45E9-8895-4959B6D6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Material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5528B-2A5F-4F30-8695-2BA51CC17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>
                <a:hlinkClick r:id="rId2"/>
              </a:rPr>
              <a:t>https://material.io/</a:t>
            </a:r>
            <a:endParaRPr lang="en-AU" dirty="0"/>
          </a:p>
          <a:p>
            <a:endParaRPr lang="en-AU" dirty="0"/>
          </a:p>
          <a:p>
            <a:r>
              <a:rPr lang="en-AU" dirty="0"/>
              <a:t>This is a UI (and UX) set of guides that help define a design.</a:t>
            </a:r>
          </a:p>
        </p:txBody>
      </p:sp>
    </p:spTree>
    <p:extLst>
      <p:ext uri="{BB962C8B-B14F-4D97-AF65-F5344CB8AC3E}">
        <p14:creationId xmlns:p14="http://schemas.microsoft.com/office/powerpoint/2010/main" val="342126057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9E850355-CC3C-9446-A9F4-F7E2E48660A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2000" y="2710196"/>
            <a:ext cx="2880000" cy="288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B986AD4-BE60-F241-B55F-2AD38D8AF41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520182"/>
            <a:ext cx="2880000" cy="2880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5528B-2A5F-4F30-8695-2BA51CC17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67895"/>
            <a:ext cx="10515600" cy="35090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Material Design is inspired by the physical world and its textures, including how they reflect light and cast shadows. Material surfaces reimagine the mediums of paper and ink.</a:t>
            </a:r>
          </a:p>
          <a:p>
            <a:endParaRPr lang="en-AU" dirty="0"/>
          </a:p>
          <a:p>
            <a:pPr lvl="1"/>
            <a:r>
              <a:rPr lang="en-AU" dirty="0"/>
              <a:t>Android OS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6A1D20-CB9D-45E9-8895-4959B6D6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Material UI</a:t>
            </a:r>
          </a:p>
        </p:txBody>
      </p:sp>
    </p:spTree>
    <p:extLst>
      <p:ext uri="{BB962C8B-B14F-4D97-AF65-F5344CB8AC3E}">
        <p14:creationId xmlns:p14="http://schemas.microsoft.com/office/powerpoint/2010/main" val="855453259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1D20-CB9D-45E9-8895-4959B6D6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Apple Design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5528B-2A5F-4F30-8695-2BA51CC17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Apple highlight three qualities:</a:t>
            </a:r>
          </a:p>
          <a:p>
            <a:pPr lvl="1"/>
            <a:r>
              <a:rPr lang="en-AU" dirty="0"/>
              <a:t>Clarity</a:t>
            </a:r>
          </a:p>
          <a:p>
            <a:pPr lvl="1"/>
            <a:r>
              <a:rPr lang="en-AU" dirty="0"/>
              <a:t>Deference</a:t>
            </a:r>
          </a:p>
          <a:p>
            <a:pPr lvl="1"/>
            <a:r>
              <a:rPr lang="en-AU" dirty="0"/>
              <a:t>Depth</a:t>
            </a:r>
          </a:p>
          <a:p>
            <a:pPr lvl="1"/>
            <a:endParaRPr lang="en-AU" dirty="0"/>
          </a:p>
          <a:p>
            <a:r>
              <a:rPr lang="en-AU" dirty="0"/>
              <a:t>https://</a:t>
            </a:r>
            <a:r>
              <a:rPr lang="en-AU" dirty="0" err="1"/>
              <a:t>developer.apple.com</a:t>
            </a:r>
            <a:r>
              <a:rPr lang="en-AU" dirty="0"/>
              <a:t>/design/human-interface-guidelines/</a:t>
            </a:r>
          </a:p>
        </p:txBody>
      </p:sp>
    </p:spTree>
    <p:extLst>
      <p:ext uri="{BB962C8B-B14F-4D97-AF65-F5344CB8AC3E}">
        <p14:creationId xmlns:p14="http://schemas.microsoft.com/office/powerpoint/2010/main" val="2521193138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A6E36-4833-4562-B303-1040A1B6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Skeuomorphism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434F9-886A-4A77-A8BC-D8D2C0742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Describes UI that represents the real-world object its imitating.</a:t>
            </a:r>
          </a:p>
        </p:txBody>
      </p:sp>
      <p:pic>
        <p:nvPicPr>
          <p:cNvPr id="2062" name="Picture 14" descr="App Design: 15 Examples of Skeuomorphism in User Interfaces">
            <a:extLst>
              <a:ext uri="{FF2B5EF4-FFF2-40B4-BE49-F238E27FC236}">
                <a16:creationId xmlns:a16="http://schemas.microsoft.com/office/drawing/2014/main" id="{7E76F15C-554D-4C01-94E1-67A093F67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3795713"/>
            <a:ext cx="47625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140724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A6E36-4833-4562-B303-1040A1B6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Skeuomorphism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434F9-886A-4A77-A8BC-D8D2C0742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do these icons do? </a:t>
            </a:r>
          </a:p>
        </p:txBody>
      </p:sp>
      <p:pic>
        <p:nvPicPr>
          <p:cNvPr id="2056" name="Picture 8" descr="icon-save : what's a floppy ? · Issue #800 · FortAwesome/Font ...">
            <a:extLst>
              <a:ext uri="{FF2B5EF4-FFF2-40B4-BE49-F238E27FC236}">
                <a16:creationId xmlns:a16="http://schemas.microsoft.com/office/drawing/2014/main" id="{23E84DC4-0C6F-4261-8DA3-789640B23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0362" y="3429000"/>
            <a:ext cx="2012168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rint icon">
            <a:extLst>
              <a:ext uri="{FF2B5EF4-FFF2-40B4-BE49-F238E27FC236}">
                <a16:creationId xmlns:a16="http://schemas.microsoft.com/office/drawing/2014/main" id="{520BE8F5-6802-4C61-9DD3-8E5D7F704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16000" y="3429000"/>
            <a:ext cx="2160000" cy="2160000"/>
          </a:xfrm>
          <a:prstGeom prst="rect">
            <a:avLst/>
          </a:prstGeom>
          <a:noFill/>
        </p:spPr>
      </p:pic>
      <p:pic>
        <p:nvPicPr>
          <p:cNvPr id="2060" name="Picture 12" descr="Delete button | Free Icon">
            <a:extLst>
              <a:ext uri="{FF2B5EF4-FFF2-40B4-BE49-F238E27FC236}">
                <a16:creationId xmlns:a16="http://schemas.microsoft.com/office/drawing/2014/main" id="{DBEA45FF-F974-4AA2-8D74-44B32A0D5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19469" y="3429000"/>
            <a:ext cx="2160000" cy="2160000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149432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A18F-8708-654C-911E-C3AF0920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Design “Style” 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A85B2-9A3F-E047-A2A9-207142CE7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These </a:t>
            </a:r>
            <a:r>
              <a:rPr lang="en-AU"/>
              <a:t>two articles </a:t>
            </a:r>
            <a:r>
              <a:rPr lang="en-AU" dirty="0"/>
              <a:t>present some alternatives:</a:t>
            </a:r>
          </a:p>
          <a:p>
            <a:endParaRPr lang="en-AU" dirty="0"/>
          </a:p>
          <a:p>
            <a:pPr lvl="1"/>
            <a:r>
              <a:rPr lang="en-AU" dirty="0"/>
              <a:t>https://usabilitygeek.com/alternatives-to-material-design/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https://</a:t>
            </a:r>
            <a:r>
              <a:rPr lang="en-AU" dirty="0" err="1"/>
              <a:t>www.slant.co</a:t>
            </a:r>
            <a:r>
              <a:rPr lang="en-AU" dirty="0"/>
              <a:t>/options/522/alternatives/~material-</a:t>
            </a:r>
            <a:r>
              <a:rPr lang="en-AU" dirty="0" err="1"/>
              <a:t>ui</a:t>
            </a:r>
            <a:r>
              <a:rPr lang="en-AU" dirty="0"/>
              <a:t>-alternatives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1001453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4E3767-3843-4C3E-9AF3-DF1524AE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Experience (UX)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28BDE9-B3EF-48D9-8A85-9D839DC36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application works with the users input to provide a seamless experience</a:t>
            </a:r>
          </a:p>
        </p:txBody>
      </p:sp>
    </p:spTree>
    <p:extLst>
      <p:ext uri="{BB962C8B-B14F-4D97-AF65-F5344CB8AC3E}">
        <p14:creationId xmlns:p14="http://schemas.microsoft.com/office/powerpoint/2010/main" val="748487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816F60-743D-4AD2-85C2-680125FC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Top UX Principles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22794C-E4D2-417E-A386-08BB5C874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Declutter the screen to allow what is important to be obvious to the user</a:t>
            </a:r>
          </a:p>
          <a:p>
            <a:endParaRPr lang="en-AU" dirty="0"/>
          </a:p>
          <a:p>
            <a:r>
              <a:rPr lang="en-AU" dirty="0"/>
              <a:t>Experience is key</a:t>
            </a:r>
          </a:p>
        </p:txBody>
      </p:sp>
    </p:spTree>
    <p:extLst>
      <p:ext uri="{BB962C8B-B14F-4D97-AF65-F5344CB8AC3E}">
        <p14:creationId xmlns:p14="http://schemas.microsoft.com/office/powerpoint/2010/main" val="3557754663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816F60-743D-4AD2-85C2-680125FC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Top UX Principles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22794C-E4D2-417E-A386-08BB5C874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With minimal space available, allow users to effortlessly transition between screens and areas of the app</a:t>
            </a:r>
          </a:p>
          <a:p>
            <a:endParaRPr lang="en-AU" dirty="0"/>
          </a:p>
          <a:p>
            <a:r>
              <a:rPr lang="en-AU" dirty="0"/>
              <a:t>Check out:</a:t>
            </a:r>
          </a:p>
          <a:p>
            <a:pPr lvl="1"/>
            <a:r>
              <a:rPr lang="en-AU">
                <a:hlinkClick r:id="rId2"/>
              </a:rPr>
              <a:t>https://dribbble.com/AntonSKV</a:t>
            </a:r>
            <a:endParaRPr lang="en-AU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95449637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816F60-743D-4AD2-85C2-680125FC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Top UX Principles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22794C-E4D2-417E-A386-08BB5C874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Functionality is always the drive behind the design choices</a:t>
            </a:r>
          </a:p>
          <a:p>
            <a:endParaRPr lang="en-AU" dirty="0"/>
          </a:p>
          <a:p>
            <a:r>
              <a:rPr lang="en-AU" dirty="0"/>
              <a:t>Minimise the need for a user to “work out” what they need to do to perform a particular action</a:t>
            </a:r>
          </a:p>
        </p:txBody>
      </p:sp>
    </p:spTree>
    <p:extLst>
      <p:ext uri="{BB962C8B-B14F-4D97-AF65-F5344CB8AC3E}">
        <p14:creationId xmlns:p14="http://schemas.microsoft.com/office/powerpoint/2010/main" val="925566848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080D-8B30-4935-B834-08BD31E3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Outputs?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88B9A-BC06-46DA-ABEC-E9CF4F071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72425" cy="4351338"/>
          </a:xfrm>
        </p:spPr>
        <p:txBody>
          <a:bodyPr>
            <a:normAutofit/>
          </a:bodyPr>
          <a:lstStyle/>
          <a:p>
            <a:r>
              <a:rPr lang="en-AU" dirty="0"/>
              <a:t>We have talked a lot of user input and inputs, but more often than not sets aside a good UX from a great one is output.</a:t>
            </a:r>
          </a:p>
          <a:p>
            <a:r>
              <a:rPr lang="en-AU" dirty="0"/>
              <a:t>By output, we mean feedback.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3076" name="Picture 4" descr="Free Flat iOS 7 Switch Buttons PSD - TitanUI | Ios 7, Web graphic ...">
            <a:extLst>
              <a:ext uri="{FF2B5EF4-FFF2-40B4-BE49-F238E27FC236}">
                <a16:creationId xmlns:a16="http://schemas.microsoft.com/office/drawing/2014/main" id="{77391262-3C4C-4F10-9635-06A6A93BB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3" r="18437" b="-2"/>
          <a:stretch/>
        </p:blipFill>
        <p:spPr bwMode="auto">
          <a:xfrm>
            <a:off x="9144000" y="1230061"/>
            <a:ext cx="3048000" cy="3167347"/>
          </a:xfrm>
          <a:custGeom>
            <a:avLst/>
            <a:gdLst/>
            <a:ahLst/>
            <a:cxnLst/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835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080D-8B30-4935-B834-08BD31E3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Outputs?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88B9A-BC06-46DA-ABEC-E9CF4F071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72425" cy="4351338"/>
          </a:xfrm>
        </p:spPr>
        <p:txBody>
          <a:bodyPr>
            <a:normAutofit/>
          </a:bodyPr>
          <a:lstStyle/>
          <a:p>
            <a:r>
              <a:rPr lang="en-AU" dirty="0"/>
              <a:t>This can be for an action taken, or a performed. A button clicked displays the button depress.</a:t>
            </a:r>
          </a:p>
          <a:p>
            <a:r>
              <a:rPr lang="en-AU" dirty="0"/>
              <a:t>A toggle switched turns green when on (iOS). Or is greyed out when no longer usable.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3076" name="Picture 4" descr="Free Flat iOS 7 Switch Buttons PSD - TitanUI | Ios 7, Web graphic ...">
            <a:extLst>
              <a:ext uri="{FF2B5EF4-FFF2-40B4-BE49-F238E27FC236}">
                <a16:creationId xmlns:a16="http://schemas.microsoft.com/office/drawing/2014/main" id="{77391262-3C4C-4F10-9635-06A6A93BB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3" r="18437" b="-2"/>
          <a:stretch/>
        </p:blipFill>
        <p:spPr bwMode="auto">
          <a:xfrm>
            <a:off x="9144000" y="1230061"/>
            <a:ext cx="3048000" cy="3167347"/>
          </a:xfrm>
          <a:custGeom>
            <a:avLst/>
            <a:gdLst/>
            <a:ahLst/>
            <a:cxnLst/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223692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080D-8B30-4935-B834-08BD31E3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Outputs?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88B9A-BC06-46DA-ABEC-E9CF4F071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72425" cy="4351338"/>
          </a:xfrm>
        </p:spPr>
        <p:txBody>
          <a:bodyPr>
            <a:normAutofit/>
          </a:bodyPr>
          <a:lstStyle/>
          <a:p>
            <a:r>
              <a:rPr lang="en-AU" dirty="0"/>
              <a:t>Haptic feedback to represent turning or clicking.</a:t>
            </a:r>
          </a:p>
          <a:p>
            <a:r>
              <a:rPr lang="en-AU" dirty="0"/>
              <a:t>Without this our user doesn’t know that either something has been done or is in the process of being done.</a:t>
            </a:r>
          </a:p>
          <a:p>
            <a:endParaRPr lang="en-AU" dirty="0"/>
          </a:p>
        </p:txBody>
      </p:sp>
      <p:pic>
        <p:nvPicPr>
          <p:cNvPr id="3076" name="Picture 4" descr="Free Flat iOS 7 Switch Buttons PSD - TitanUI | Ios 7, Web graphic ...">
            <a:extLst>
              <a:ext uri="{FF2B5EF4-FFF2-40B4-BE49-F238E27FC236}">
                <a16:creationId xmlns:a16="http://schemas.microsoft.com/office/drawing/2014/main" id="{77391262-3C4C-4F10-9635-06A6A93BB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3" r="18437" b="-2"/>
          <a:stretch/>
        </p:blipFill>
        <p:spPr bwMode="auto">
          <a:xfrm>
            <a:off x="9144000" y="1230061"/>
            <a:ext cx="3048000" cy="3167347"/>
          </a:xfrm>
          <a:custGeom>
            <a:avLst/>
            <a:gdLst/>
            <a:ahLst/>
            <a:cxnLst/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179166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5EAB-3EFD-468C-83F9-D413126C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C4CAF-CAC4-4BF5-AFC6-B65DF6E2A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Intuitive</a:t>
            </a:r>
          </a:p>
          <a:p>
            <a:r>
              <a:rPr lang="en-AU" dirty="0"/>
              <a:t>Human centred</a:t>
            </a:r>
          </a:p>
          <a:p>
            <a:r>
              <a:rPr lang="en-AU" dirty="0"/>
              <a:t>Discoverable</a:t>
            </a:r>
          </a:p>
          <a:p>
            <a:r>
              <a:rPr lang="en-AU" dirty="0"/>
              <a:t>Provide Feedback </a:t>
            </a:r>
          </a:p>
        </p:txBody>
      </p:sp>
    </p:spTree>
    <p:extLst>
      <p:ext uri="{BB962C8B-B14F-4D97-AF65-F5344CB8AC3E}">
        <p14:creationId xmlns:p14="http://schemas.microsoft.com/office/powerpoint/2010/main" val="56005375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5EAB-3EFD-468C-83F9-D413126C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Recap</a:t>
            </a:r>
          </a:p>
        </p:txBody>
      </p:sp>
      <p:pic>
        <p:nvPicPr>
          <p:cNvPr id="4" name="Online Media 3" descr="It's not you. Bad doors are everywhere.">
            <a:hlinkClick r:id="" action="ppaction://media"/>
            <a:extLst>
              <a:ext uri="{FF2B5EF4-FFF2-40B4-BE49-F238E27FC236}">
                <a16:creationId xmlns:a16="http://schemas.microsoft.com/office/drawing/2014/main" id="{073EC271-C894-424D-A8AC-75500E27E52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09499" y="1232959"/>
            <a:ext cx="8808857" cy="4977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607ADE-FF9A-DD47-8CE1-3301DC3AB026}"/>
              </a:ext>
            </a:extLst>
          </p:cNvPr>
          <p:cNvSpPr txBox="1"/>
          <p:nvPr/>
        </p:nvSpPr>
        <p:spPr>
          <a:xfrm>
            <a:off x="2609499" y="6193341"/>
            <a:ext cx="6973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https://www.youtube.com/watch?v=yY96hTb8WgI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9976792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0963-28C3-6F4D-8E9A-D388A4BA6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69DD6-E2FE-6E4C-8B2E-1B944C462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App redesign</a:t>
            </a:r>
          </a:p>
        </p:txBody>
      </p:sp>
    </p:spTree>
    <p:extLst>
      <p:ext uri="{BB962C8B-B14F-4D97-AF65-F5344CB8AC3E}">
        <p14:creationId xmlns:p14="http://schemas.microsoft.com/office/powerpoint/2010/main" val="530234886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1766-9255-47FA-83E0-C5AABC56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98F9C-EE70-423F-A5D4-25269A99A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Using some of the topics we’ve discussed today, apply them to create a UI design/ UX for an app</a:t>
            </a:r>
          </a:p>
          <a:p>
            <a:endParaRPr lang="en-AU" dirty="0"/>
          </a:p>
          <a:p>
            <a:r>
              <a:rPr lang="en-AU" dirty="0"/>
              <a:t>Redesign your favourite app thinking of ways to improve it, or take an original idea and begin designing for its purpose</a:t>
            </a:r>
          </a:p>
        </p:txBody>
      </p:sp>
    </p:spTree>
    <p:extLst>
      <p:ext uri="{BB962C8B-B14F-4D97-AF65-F5344CB8AC3E}">
        <p14:creationId xmlns:p14="http://schemas.microsoft.com/office/powerpoint/2010/main" val="1295600731"/>
      </p:ext>
    </p:extLst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1766-9255-47FA-83E0-C5AABC56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98F9C-EE70-423F-A5D4-25269A99A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Start with a rough sketch or Wireframe</a:t>
            </a:r>
          </a:p>
          <a:p>
            <a:endParaRPr lang="en-AU" dirty="0"/>
          </a:p>
          <a:p>
            <a:r>
              <a:rPr lang="en-AU" dirty="0"/>
              <a:t>Develop this into a colour or black &amp; white mock-up</a:t>
            </a:r>
          </a:p>
        </p:txBody>
      </p:sp>
    </p:spTree>
    <p:extLst>
      <p:ext uri="{BB962C8B-B14F-4D97-AF65-F5344CB8AC3E}">
        <p14:creationId xmlns:p14="http://schemas.microsoft.com/office/powerpoint/2010/main" val="2483367225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1766-9255-47FA-83E0-C5AABC56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98F9C-EE70-423F-A5D4-25269A99A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Get some feedback from your peers</a:t>
            </a:r>
          </a:p>
          <a:p>
            <a:r>
              <a:rPr lang="en-AU" dirty="0"/>
              <a:t>Refine the design based on feedback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6495224"/>
      </p:ext>
    </p:extLst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1766-9255-47FA-83E0-C5AABC56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98F9C-EE70-423F-A5D4-25269A99A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Investigate applications you might be able to use to create these designs digitally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46774A-1F50-F044-A434-0B4A591468A4}"/>
              </a:ext>
            </a:extLst>
          </p:cNvPr>
          <p:cNvSpPr txBox="1">
            <a:spLocks/>
          </p:cNvSpPr>
          <p:nvPr/>
        </p:nvSpPr>
        <p:spPr>
          <a:xfrm>
            <a:off x="496645" y="3429000"/>
            <a:ext cx="11198710" cy="2862322"/>
          </a:xfrm>
          <a:prstGeom prst="rect">
            <a:avLst/>
          </a:prstGeom>
          <a:noFill/>
        </p:spPr>
        <p:txBody>
          <a:bodyPr wrap="square" numCol="2" spcCol="360000">
            <a:spAutoFit/>
          </a:bodyPr>
          <a:lstStyle/>
          <a:p>
            <a:pPr lvl="0"/>
            <a:r>
              <a:rPr lang="en-AU" sz="2000" dirty="0"/>
              <a:t>https://www.figma.com/</a:t>
            </a:r>
          </a:p>
          <a:p>
            <a:pPr lvl="0"/>
            <a:r>
              <a:rPr lang="en-AU" sz="2000" dirty="0"/>
              <a:t>Adobe XD &amp; Adobe Photoshop</a:t>
            </a:r>
          </a:p>
          <a:p>
            <a:pPr lvl="0"/>
            <a:r>
              <a:rPr lang="en-AU" sz="2000" dirty="0"/>
              <a:t>https://www.framer.com/ui-ux-design-tool/</a:t>
            </a:r>
          </a:p>
          <a:p>
            <a:pPr lvl="0"/>
            <a:r>
              <a:rPr lang="en-AU" sz="2000" dirty="0"/>
              <a:t>https://www.fluidui.com/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miro.com</a:t>
            </a:r>
            <a:r>
              <a:rPr lang="en-AU" sz="2000" dirty="0"/>
              <a:t>/features/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www.mockplus.com</a:t>
            </a:r>
            <a:r>
              <a:rPr lang="en-AU" sz="2000" dirty="0"/>
              <a:t>/free-wireframing-tool/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wireframe.cc</a:t>
            </a:r>
            <a:r>
              <a:rPr lang="en-AU" sz="2000" dirty="0"/>
              <a:t>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pencil.evolus.vn</a:t>
            </a:r>
            <a:r>
              <a:rPr lang="en-AU" sz="2000" dirty="0"/>
              <a:t>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ninjamock.com</a:t>
            </a:r>
            <a:r>
              <a:rPr lang="en-AU" sz="2000" dirty="0"/>
              <a:t>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www.mockflow.com</a:t>
            </a:r>
            <a:r>
              <a:rPr lang="en-AU" sz="2000" dirty="0"/>
              <a:t>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www.invisionapp.com</a:t>
            </a:r>
            <a:r>
              <a:rPr lang="en-AU" sz="2000" dirty="0"/>
              <a:t>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www.axure.com</a:t>
            </a:r>
            <a:r>
              <a:rPr lang="en-AU" sz="2000" dirty="0"/>
              <a:t>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www.invisionapp.com</a:t>
            </a:r>
            <a:r>
              <a:rPr lang="en-AU" sz="2000" dirty="0"/>
              <a:t>/product/craft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proto.io</a:t>
            </a:r>
            <a:r>
              <a:rPr lang="en-AU" sz="2000" dirty="0"/>
              <a:t>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marvelapp.com</a:t>
            </a:r>
            <a:r>
              <a:rPr lang="en-AU" sz="2000" dirty="0"/>
              <a:t>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www.flowmapp.com</a:t>
            </a:r>
            <a:r>
              <a:rPr lang="en-AU" sz="2000" dirty="0"/>
              <a:t>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origami.design</a:t>
            </a:r>
            <a:r>
              <a:rPr lang="en-AU" sz="2000" dirty="0"/>
              <a:t>/</a:t>
            </a:r>
          </a:p>
          <a:p>
            <a:r>
              <a:rPr lang="en-AU" sz="2000" dirty="0"/>
              <a:t>https://</a:t>
            </a:r>
            <a:r>
              <a:rPr lang="en-AU" sz="2000" dirty="0" err="1"/>
              <a:t>www.uxpin.com</a:t>
            </a:r>
            <a:r>
              <a:rPr lang="en-AU" sz="2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415951392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8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MT-Template-2022.potx" id="{46DE366B-4821-49BC-8701-7B61EF5675FD}" vid="{1DBFF745-F716-4084-B095-E1BA3F00EF1E}"/>
    </a:ext>
  </a:extLst>
</a:theme>
</file>

<file path=ppt/theme/theme2.xml><?xml version="1.0" encoding="utf-8"?>
<a:theme xmlns:a="http://schemas.openxmlformats.org/drawingml/2006/main" name="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MT-Template-2022.potx" id="{46DE366B-4821-49BC-8701-7B61EF5675FD}" vid="{4B8437CD-37BE-406D-8DC1-D758AA890DBB}"/>
    </a:ext>
  </a:extLst>
</a:theme>
</file>

<file path=ppt/theme/theme3.xml><?xml version="1.0" encoding="utf-8"?>
<a:theme xmlns:a="http://schemas.openxmlformats.org/drawingml/2006/main" name="3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MT-Template-2022.potx" id="{46DE366B-4821-49BC-8701-7B61EF5675FD}" vid="{B5F97D84-B8D4-44DC-8FF6-2DE210465E45}"/>
    </a:ext>
  </a:extLst>
</a:theme>
</file>

<file path=ppt/theme/theme4.xml><?xml version="1.0" encoding="utf-8"?>
<a:theme xmlns:a="http://schemas.openxmlformats.org/drawingml/2006/main" name="4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MT-Template-2022.potx" id="{46DE366B-4821-49BC-8701-7B61EF5675FD}" vid="{DA71E311-2FBE-4962-B1FB-41B03FA97A0F}"/>
    </a:ext>
  </a:extLst>
</a:theme>
</file>

<file path=ppt/theme/theme5.xml><?xml version="1.0" encoding="utf-8"?>
<a:theme xmlns:a="http://schemas.openxmlformats.org/drawingml/2006/main" name="5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MT-Template-2022.potx" id="{46DE366B-4821-49BC-8701-7B61EF5675FD}" vid="{D30B943B-C567-4BF4-BF08-34BB384E5646}"/>
    </a:ext>
  </a:extLst>
</a:theme>
</file>

<file path=ppt/theme/theme6.xml><?xml version="1.0" encoding="utf-8"?>
<a:theme xmlns:a="http://schemas.openxmlformats.org/drawingml/2006/main" name="TAFE-Dark-BG-animated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MT-Template-2022.potx" id="{46DE366B-4821-49BC-8701-7B61EF5675FD}" vid="{FC49EDF7-F30C-4479-9922-1E3A968D7299}"/>
    </a:ext>
  </a:extLst>
</a:theme>
</file>

<file path=ppt/theme/theme7.xml><?xml version="1.0" encoding="utf-8"?>
<a:theme xmlns:a="http://schemas.openxmlformats.org/drawingml/2006/main" name="6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MT-Template-2022.potx" id="{46DE366B-4821-49BC-8701-7B61EF5675FD}" vid="{B0565617-50BD-4B72-A5B2-828FCD34617F}"/>
    </a:ext>
  </a:extLst>
</a:theme>
</file>

<file path=ppt/theme/theme8.xml><?xml version="1.0" encoding="utf-8"?>
<a:theme xmlns:a="http://schemas.openxmlformats.org/drawingml/2006/main" name="7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MT-Template-2022.potx" id="{46DE366B-4821-49BC-8701-7B61EF5675FD}" vid="{45BFD0BF-E305-415C-9C7E-BF3947BBFA53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B652FE9C0E4A4BA617103343675622" ma:contentTypeVersion="12" ma:contentTypeDescription="Create a new document." ma:contentTypeScope="" ma:versionID="617d7ff7cf300e3bbf8bbc053abb89c0">
  <xsd:schema xmlns:xsd="http://www.w3.org/2001/XMLSchema" xmlns:xs="http://www.w3.org/2001/XMLSchema" xmlns:p="http://schemas.microsoft.com/office/2006/metadata/properties" xmlns:ns3="ca795412-bebd-4315-bf48-ef2a3932babb" xmlns:ns4="15dc33cf-23e6-4c02-8146-51e815ffffa8" targetNamespace="http://schemas.microsoft.com/office/2006/metadata/properties" ma:root="true" ma:fieldsID="1109a6f8e861dad66c4c282957d8af80" ns3:_="" ns4:_="">
    <xsd:import namespace="ca795412-bebd-4315-bf48-ef2a3932babb"/>
    <xsd:import namespace="15dc33cf-23e6-4c02-8146-51e815ffff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795412-bebd-4315-bf48-ef2a3932ba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c33cf-23e6-4c02-8146-51e815ffffa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B2246D-79BC-442F-84FD-719D61285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23BEC6-FD7D-4332-9C3B-84CBE9AE7547}">
  <ds:schemaRefs>
    <ds:schemaRef ds:uri="15dc33cf-23e6-4c02-8146-51e815ffffa8"/>
    <ds:schemaRef ds:uri="http://schemas.microsoft.com/office/2006/metadata/properties"/>
    <ds:schemaRef ds:uri="http://schemas.microsoft.com/office/2006/documentManagement/types"/>
    <ds:schemaRef ds:uri="ca795412-bebd-4315-bf48-ef2a3932babb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33DB43D-1476-4CF6-8CC4-0D70A9F47E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795412-bebd-4315-bf48-ef2a3932babb"/>
    <ds:schemaRef ds:uri="15dc33cf-23e6-4c02-8146-51e815ffff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NMT-Template-2022</Template>
  <TotalTime>293</TotalTime>
  <Words>1429</Words>
  <Application>Microsoft Office PowerPoint</Application>
  <PresentationFormat>Widescreen</PresentationFormat>
  <Paragraphs>245</Paragraphs>
  <Slides>41</Slides>
  <Notes>2</Notes>
  <HiddenSlides>0</HiddenSlides>
  <MMClips>1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8_Office Theme</vt:lpstr>
      <vt:lpstr>TAFE-White-BG-C</vt:lpstr>
      <vt:lpstr>3_Office Theme</vt:lpstr>
      <vt:lpstr>4_Office Theme</vt:lpstr>
      <vt:lpstr>5_Office Theme</vt:lpstr>
      <vt:lpstr>TAFE-Dark-BG-animated</vt:lpstr>
      <vt:lpstr>6_Office Theme</vt:lpstr>
      <vt:lpstr>7_Office Theme</vt:lpstr>
      <vt:lpstr>Mobile UX Design</vt:lpstr>
      <vt:lpstr>Let's start at the very beginning...</vt:lpstr>
      <vt:lpstr>...A very good place to start.</vt:lpstr>
      <vt:lpstr>Requirements</vt:lpstr>
      <vt:lpstr>What is UX?</vt:lpstr>
      <vt:lpstr>What is UX?</vt:lpstr>
      <vt:lpstr>What is UX?</vt:lpstr>
      <vt:lpstr>What is Wrong?</vt:lpstr>
      <vt:lpstr>General Mobile Design</vt:lpstr>
      <vt:lpstr>Mobile User Input</vt:lpstr>
      <vt:lpstr>Mobile User Input</vt:lpstr>
      <vt:lpstr>Mobile User Input Cont.</vt:lpstr>
      <vt:lpstr>Mobile User Input Cont.</vt:lpstr>
      <vt:lpstr>Exercise: User Input</vt:lpstr>
      <vt:lpstr>Interface Inputs</vt:lpstr>
      <vt:lpstr>Interface Inputs</vt:lpstr>
      <vt:lpstr>UI Design</vt:lpstr>
      <vt:lpstr>UI Design</vt:lpstr>
      <vt:lpstr>Components of UI Design</vt:lpstr>
      <vt:lpstr>Flat Design</vt:lpstr>
      <vt:lpstr>Flat Design</vt:lpstr>
      <vt:lpstr>Material UI</vt:lpstr>
      <vt:lpstr>Material UI</vt:lpstr>
      <vt:lpstr>Apple Design Guidelines</vt:lpstr>
      <vt:lpstr>Skeuomorphism </vt:lpstr>
      <vt:lpstr>Skeuomorphism </vt:lpstr>
      <vt:lpstr>Design “Style” Alternatives</vt:lpstr>
      <vt:lpstr>User Experience (UX)</vt:lpstr>
      <vt:lpstr>Top UX Principles</vt:lpstr>
      <vt:lpstr>Top UX Principles</vt:lpstr>
      <vt:lpstr>Top UX Principles</vt:lpstr>
      <vt:lpstr>Outputs?</vt:lpstr>
      <vt:lpstr>Outputs?</vt:lpstr>
      <vt:lpstr>Outputs?</vt:lpstr>
      <vt:lpstr>Recap</vt:lpstr>
      <vt:lpstr>Recap</vt:lpstr>
      <vt:lpstr>Exercise</vt:lpstr>
      <vt:lpstr>Exercise</vt:lpstr>
      <vt:lpstr>Exercise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UX Design</dc:title>
  <dc:creator>aaron clifford</dc:creator>
  <cp:lastModifiedBy>Aaron Clifford</cp:lastModifiedBy>
  <cp:revision>66</cp:revision>
  <dcterms:created xsi:type="dcterms:W3CDTF">2020-08-03T09:04:32Z</dcterms:created>
  <dcterms:modified xsi:type="dcterms:W3CDTF">2025-02-09T23:15:26Z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2024-02-06T05:27:33Z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d9834d9f-e5ae-4b01-9da4-c61720f7085c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8_Office Theme:8\TAFE-White-BG-C:7\3_Office Theme:8\4_Office Theme:7\5_Office Theme:8\TAFE-Dark-BG-animated:7\6_Office Theme:8\7_Office Theme:7</vt:lpwstr>
  </property>
  <property fmtid="{D5CDD505-2E9C-101B-9397-08002B2CF9AE}" pid="10" name="ClassificationContentMarkingHeaderText">
    <vt:lpwstr>OFFICIAL</vt:lpwstr>
  </property>
</Properties>
</file>