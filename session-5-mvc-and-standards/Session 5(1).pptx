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E43616-7F0F-6D65-C9F6-44DAF1AE3728}" v="1051" dt="2024-08-13T05:21:39.6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D67EF-3C70-A3DA-891A-1BD7E449D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4ECD08-B087-68AA-BFD4-9AFBBDFD0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3FF20-1AB5-B959-399B-87E2C7DC8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CEDD-B0EE-4051-B9FD-192708BE3077}" type="datetimeFigureOut">
              <a:rPr lang="en-AU" smtClean="0"/>
              <a:t>13/08/2024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1904F-4625-DB7E-C0F3-1AA7B357F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20019-4E79-4FC7-F507-0B4CC8FC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3DE-AB96-42FB-921D-2BF211077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5837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9D337-CED1-BCC1-7EC9-741F1AA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DD8B2-E0C4-1AF0-C78A-FD85C897C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B155D-2520-CBFC-CD69-84140D722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CEDD-B0EE-4051-B9FD-192708BE3077}" type="datetimeFigureOut">
              <a:rPr lang="en-AU" smtClean="0"/>
              <a:t>13/08/2024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9CE87-9F4D-B6AF-E1FD-FB93458A9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152E5-18A1-9379-C02C-BC794BC5E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3DE-AB96-42FB-921D-2BF211077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9407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51A00-8858-FEF1-6551-C13CE2BD8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96274-DBD1-AA0A-4F10-5C01A59E6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9A7DD-7AE3-778E-F646-5D567B58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CEDD-B0EE-4051-B9FD-192708BE3077}" type="datetimeFigureOut">
              <a:rPr lang="en-AU" smtClean="0"/>
              <a:t>13/08/2024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5E8AD-E428-D3B7-72E1-C315F3B7D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A7541-8650-D640-2A4F-1DD12C00D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3DE-AB96-42FB-921D-2BF211077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1612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9FA3-22F1-3737-113A-2E73AEF0D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DC109-AECF-8277-E11C-E6AA21674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E56EA-FEDF-7CBD-0A66-6DBB1EAAB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9A2B7-63C8-DE4E-B0BC-EB6668C1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CEDD-B0EE-4051-B9FD-192708BE3077}" type="datetimeFigureOut">
              <a:rPr lang="en-AU" smtClean="0"/>
              <a:t>13/08/2024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E8C48-253A-3780-A735-ADE87CA3A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97D10-A109-909A-1EB1-4E0831575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3DE-AB96-42FB-921D-2BF211077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3430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CB330-D160-7712-00A2-C6A979816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09FC1-BB02-6598-324B-4A99636F0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1E1C1-B94B-AE7D-51C7-AC33BF92E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589E35-56E7-BDF1-6B2D-F17AD33319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3E66F5-9B23-D5C2-4085-ABF922513B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22CFB-1A04-487B-CC8B-41AA1A19D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CEDD-B0EE-4051-B9FD-192708BE3077}" type="datetimeFigureOut">
              <a:rPr lang="en-AU" smtClean="0"/>
              <a:t>13/08/2024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5DEDCE-A86B-9EFF-E838-1CF99D314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9E77A-28B2-D97A-1273-8C7B0B112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3DE-AB96-42FB-921D-2BF211077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999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CD400-2BD2-9CF8-6E3D-BBE982D82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2FD6E-5666-1A7C-B171-14A020A30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CEDD-B0EE-4051-B9FD-192708BE3077}" type="datetimeFigureOut">
              <a:rPr lang="en-AU" smtClean="0"/>
              <a:t>13/08/2024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EFA27C-4348-47B3-79F9-9B661E3DE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15680A-BA50-09B3-4C9F-9B0F8105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3DE-AB96-42FB-921D-2BF211077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7814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C41A9E-12FB-32B2-7936-E02F66B58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CEDD-B0EE-4051-B9FD-192708BE3077}" type="datetimeFigureOut">
              <a:rPr lang="en-AU" smtClean="0"/>
              <a:t>13/08/2024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AA3E64-81D2-5EA4-B910-B80EC0709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E4BFC-BDC2-D9CE-86FF-DF1BC13DE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3DE-AB96-42FB-921D-2BF211077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3597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BA532-B833-0592-F034-FC9C3FDB2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6720D-CA4B-A1C1-FA61-0F5ED4666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69381A-B8D7-B021-7E6D-4E5B4F255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8E1DAB-6746-80C3-8A9F-59521CADA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CEDD-B0EE-4051-B9FD-192708BE3077}" type="datetimeFigureOut">
              <a:rPr lang="en-AU" smtClean="0"/>
              <a:t>13/08/2024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5BE5E-8233-426E-7181-F2F899283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349BE-603E-FA31-46FE-16931700D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3DE-AB96-42FB-921D-2BF211077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964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DFFF-57C7-0A6B-6328-A1014C814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8BC9F9-2657-BAF8-A413-FFD151CFD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2B36D2-DDA9-BCF5-7DD1-90A9DEB13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67FF4-5946-4056-1A93-EB4B35B70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CEDD-B0EE-4051-B9FD-192708BE3077}" type="datetimeFigureOut">
              <a:rPr lang="en-AU" smtClean="0"/>
              <a:t>13/08/2024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D3B74-2752-984A-D9C1-B8B2F6D5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B6C0D-49E6-7595-3615-75DAF2E9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3DE-AB96-42FB-921D-2BF211077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6164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F0493-0812-07DA-F8A0-B88C2ABE8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F5C8B1-1176-F30B-A585-C59E5E650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7E280-425A-27CF-90EB-F3A22C162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CEDD-B0EE-4051-B9FD-192708BE3077}" type="datetimeFigureOut">
              <a:rPr lang="en-AU" smtClean="0"/>
              <a:t>13/08/2024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6A1EA-DAFB-483D-965B-258F5ABFD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AA245-E50B-658D-A696-BCBA5BFD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3DE-AB96-42FB-921D-2BF211077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1648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336D55-E330-6DE0-7343-29C93D87F7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85871A-0F1A-276C-7627-8241BDCBF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49B3-F694-1F7B-0269-3FF7CBEFF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CEDD-B0EE-4051-B9FD-192708BE3077}" type="datetimeFigureOut">
              <a:rPr lang="en-AU" smtClean="0"/>
              <a:t>13/08/2024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BEEE6-8FEA-DF6D-4600-008139B19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F3B67-2BA5-3668-874A-322649915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203DE-AB96-42FB-921D-2BF2110777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6921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2D5E4C-D376-B360-FBFB-CF0AA164E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A170D-9452-EABF-263F-5A66F7CDC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01950-4C8E-487C-E88E-17EF705500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BCEDD-B0EE-4051-B9FD-192708BE3077}" type="datetimeFigureOut">
              <a:rPr lang="en-AU" smtClean="0"/>
              <a:t>13/08/2024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9F9F7-6C43-0178-64C1-748FA945E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7609E-947D-2D4F-A164-6531D648E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203DE-AB96-42FB-921D-2BF2110777A2}" type="slidenum">
              <a:rPr lang="en-AU" smtClean="0"/>
              <a:t>‹#›</a:t>
            </a:fld>
            <a:endParaRPr lang="en-AU"/>
          </a:p>
        </p:txBody>
      </p:sp>
      <p:sp>
        <p:nvSpPr>
          <p:cNvPr id="7" name="MSIPCMContentMarking" descr="{&quot;HashCode&quot;:-1423410385,&quot;Placement&quot;:&quot;Header&quot;,&quot;Top&quot;:0.0,&quot;Left&quot;:451.105438,&quot;SlideWidth&quot;:960,&quot;SlideHeight&quot;:540}">
            <a:extLst>
              <a:ext uri="{FF2B5EF4-FFF2-40B4-BE49-F238E27FC236}">
                <a16:creationId xmlns:a16="http://schemas.microsoft.com/office/drawing/2014/main" id="{2442BF43-D24B-8EEB-8A09-2629D454DA08}"/>
              </a:ext>
            </a:extLst>
          </p:cNvPr>
          <p:cNvSpPr txBox="1"/>
          <p:nvPr userDrawn="1"/>
        </p:nvSpPr>
        <p:spPr>
          <a:xfrm>
            <a:off x="5729039" y="0"/>
            <a:ext cx="73392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5363464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0E448-B99E-37F1-51A0-F06CBF6C39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Session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60194-3B5E-1094-6F54-A98B1A7244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Coding Standards and MVC</a:t>
            </a:r>
          </a:p>
        </p:txBody>
      </p:sp>
    </p:spTree>
    <p:extLst>
      <p:ext uri="{BB962C8B-B14F-4D97-AF65-F5344CB8AC3E}">
        <p14:creationId xmlns:p14="http://schemas.microsoft.com/office/powerpoint/2010/main" val="3351810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3A0B3-082E-3F4F-24B0-C4CE89678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46E73-98ED-F229-6CC1-797E13C33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AU" dirty="0"/>
              <a:t>Naming Conventions</a:t>
            </a:r>
          </a:p>
          <a:p>
            <a:pPr>
              <a:lnSpc>
                <a:spcPct val="150000"/>
              </a:lnSpc>
            </a:pPr>
            <a:r>
              <a:rPr lang="en-AU" dirty="0"/>
              <a:t>Coding Rules</a:t>
            </a:r>
          </a:p>
          <a:p>
            <a:pPr>
              <a:lnSpc>
                <a:spcPct val="150000"/>
              </a:lnSpc>
            </a:pPr>
            <a:r>
              <a:rPr lang="en-AU" dirty="0"/>
              <a:t>Self-documenting code</a:t>
            </a:r>
          </a:p>
          <a:p>
            <a:pPr>
              <a:lnSpc>
                <a:spcPct val="150000"/>
              </a:lnSpc>
            </a:pPr>
            <a:r>
              <a:rPr lang="en-AU" dirty="0"/>
              <a:t>Code complexity</a:t>
            </a:r>
          </a:p>
          <a:p>
            <a:pPr>
              <a:lnSpc>
                <a:spcPct val="150000"/>
              </a:lnSpc>
            </a:pPr>
            <a:r>
              <a:rPr lang="en-AU" dirty="0"/>
              <a:t>Commenting</a:t>
            </a:r>
          </a:p>
          <a:p>
            <a:pPr>
              <a:lnSpc>
                <a:spcPct val="150000"/>
              </a:lnSpc>
            </a:pPr>
            <a:r>
              <a:rPr lang="en-AU" dirty="0"/>
              <a:t>Model View Controller</a:t>
            </a:r>
          </a:p>
        </p:txBody>
      </p:sp>
    </p:spTree>
    <p:extLst>
      <p:ext uri="{BB962C8B-B14F-4D97-AF65-F5344CB8AC3E}">
        <p14:creationId xmlns:p14="http://schemas.microsoft.com/office/powerpoint/2010/main" val="1683688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054C442-BE9B-A0B0-AEBE-885E676C1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224" y="3535087"/>
            <a:ext cx="2893551" cy="30511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F99F09-894E-5146-5A44-64AFDF495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Variables / Fields / Properties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300085-2079-96C6-E65E-575EA440F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Variable is a stored memory location in some local scope</a:t>
            </a:r>
          </a:p>
          <a:p>
            <a:pPr lvl="1"/>
            <a:r>
              <a:rPr lang="en-AU" dirty="0"/>
              <a:t>Contextually a field is a variable representing data in a class, typically private.</a:t>
            </a:r>
          </a:p>
          <a:p>
            <a:pPr lvl="1"/>
            <a:r>
              <a:rPr lang="en-AU" dirty="0"/>
              <a:t>A Property is a variable in a class but that has a getter and setter.</a:t>
            </a:r>
          </a:p>
          <a:p>
            <a:pPr lvl="1"/>
            <a:r>
              <a:rPr lang="en-AU" dirty="0"/>
              <a:t>Properties can have a backing field that represent the underlying data being publicly exposed.</a:t>
            </a:r>
          </a:p>
          <a:p>
            <a:endParaRPr lang="en-AU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68DFC3-6FBD-F28F-DBDF-645EB266F16B}"/>
              </a:ext>
            </a:extLst>
          </p:cNvPr>
          <p:cNvCxnSpPr>
            <a:cxnSpLocks/>
          </p:cNvCxnSpPr>
          <p:nvPr/>
        </p:nvCxnSpPr>
        <p:spPr>
          <a:xfrm flipH="1">
            <a:off x="6756592" y="4001294"/>
            <a:ext cx="170592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280AB85-4FD9-D28D-BB43-2DB68876E6BA}"/>
              </a:ext>
            </a:extLst>
          </p:cNvPr>
          <p:cNvCxnSpPr>
            <a:cxnSpLocks/>
          </p:cNvCxnSpPr>
          <p:nvPr/>
        </p:nvCxnSpPr>
        <p:spPr>
          <a:xfrm>
            <a:off x="3597214" y="4502989"/>
            <a:ext cx="147511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B163838-00B5-34C5-90F5-B52D2890EF5B}"/>
              </a:ext>
            </a:extLst>
          </p:cNvPr>
          <p:cNvCxnSpPr>
            <a:cxnSpLocks/>
          </p:cNvCxnSpPr>
          <p:nvPr/>
        </p:nvCxnSpPr>
        <p:spPr>
          <a:xfrm flipH="1">
            <a:off x="6689814" y="6086011"/>
            <a:ext cx="170592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A2C6E8A-AE2C-F841-022B-D3EE3DC07ECA}"/>
              </a:ext>
            </a:extLst>
          </p:cNvPr>
          <p:cNvSpPr txBox="1"/>
          <p:nvPr/>
        </p:nvSpPr>
        <p:spPr>
          <a:xfrm>
            <a:off x="8498027" y="3816628"/>
            <a:ext cx="154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(backing) Field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041444-0155-41F7-C3A7-379FAED971E6}"/>
              </a:ext>
            </a:extLst>
          </p:cNvPr>
          <p:cNvSpPr txBox="1"/>
          <p:nvPr/>
        </p:nvSpPr>
        <p:spPr>
          <a:xfrm>
            <a:off x="8453225" y="5901345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Variable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45FC04-4F43-00DB-99DA-56FBC6511E2F}"/>
              </a:ext>
            </a:extLst>
          </p:cNvPr>
          <p:cNvSpPr txBox="1"/>
          <p:nvPr/>
        </p:nvSpPr>
        <p:spPr>
          <a:xfrm>
            <a:off x="2623096" y="4318323"/>
            <a:ext cx="10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Property</a:t>
            </a:r>
          </a:p>
        </p:txBody>
      </p:sp>
    </p:spTree>
    <p:extLst>
      <p:ext uri="{BB962C8B-B14F-4D97-AF65-F5344CB8AC3E}">
        <p14:creationId xmlns:p14="http://schemas.microsoft.com/office/powerpoint/2010/main" val="163451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7A28A-2691-9744-93E9-91AD06B2F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Naming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381FF-0DB5-9F56-4A80-2B0A958A0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Variables, fields and method arguments use camelCase.</a:t>
            </a:r>
          </a:p>
          <a:p>
            <a:r>
              <a:rPr lang="en-AU" dirty="0"/>
              <a:t>Essentially localised variables including class level private fields.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60BBF7-3C41-4584-426C-A2B2F8BDE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836" y="2897761"/>
            <a:ext cx="3477491" cy="387768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280C85F-899D-EF7A-1F24-2BACD85E2B5F}"/>
              </a:ext>
            </a:extLst>
          </p:cNvPr>
          <p:cNvCxnSpPr/>
          <p:nvPr/>
        </p:nvCxnSpPr>
        <p:spPr>
          <a:xfrm>
            <a:off x="5569527" y="3611418"/>
            <a:ext cx="52647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10616D-2079-8FA1-2A35-8EAFC0F85939}"/>
              </a:ext>
            </a:extLst>
          </p:cNvPr>
          <p:cNvCxnSpPr/>
          <p:nvPr/>
        </p:nvCxnSpPr>
        <p:spPr>
          <a:xfrm>
            <a:off x="6366294" y="5727940"/>
            <a:ext cx="81951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1C2CA6-DCFB-5496-FEAB-71C9E01A11F3}"/>
              </a:ext>
            </a:extLst>
          </p:cNvPr>
          <p:cNvCxnSpPr/>
          <p:nvPr/>
        </p:nvCxnSpPr>
        <p:spPr>
          <a:xfrm>
            <a:off x="5296619" y="6176963"/>
            <a:ext cx="12422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981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1997361-42E3-CD6F-6A26-2B6E7EB05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451" y="2605902"/>
            <a:ext cx="3477491" cy="38776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77A28A-2691-9744-93E9-91AD06B2F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Naming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381FF-0DB5-9F56-4A80-2B0A958A0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Class names, methods and properties have </a:t>
            </a:r>
            <a:r>
              <a:rPr lang="en-AU" dirty="0" err="1"/>
              <a:t>PascalCase</a:t>
            </a:r>
            <a:r>
              <a:rPr lang="en-AU" dirty="0"/>
              <a:t>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3E5187-FBD1-0EDC-9B41-7CF6DE321DC6}"/>
              </a:ext>
            </a:extLst>
          </p:cNvPr>
          <p:cNvCxnSpPr>
            <a:cxnSpLocks/>
          </p:cNvCxnSpPr>
          <p:nvPr/>
        </p:nvCxnSpPr>
        <p:spPr>
          <a:xfrm>
            <a:off x="5802798" y="2887820"/>
            <a:ext cx="115454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C6F02A-CF79-FE53-D9E8-A9538F9E13AC}"/>
              </a:ext>
            </a:extLst>
          </p:cNvPr>
          <p:cNvCxnSpPr>
            <a:cxnSpLocks/>
          </p:cNvCxnSpPr>
          <p:nvPr/>
        </p:nvCxnSpPr>
        <p:spPr>
          <a:xfrm>
            <a:off x="5145798" y="5477107"/>
            <a:ext cx="8827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0317BF-085F-572B-588B-47FF612F34CC}"/>
              </a:ext>
            </a:extLst>
          </p:cNvPr>
          <p:cNvCxnSpPr>
            <a:cxnSpLocks/>
          </p:cNvCxnSpPr>
          <p:nvPr/>
        </p:nvCxnSpPr>
        <p:spPr>
          <a:xfrm>
            <a:off x="6028567" y="3980499"/>
            <a:ext cx="56071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113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5764E-DB09-90E7-466C-F65D4E11C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SCREAMING_CASE / UPPER_SNAKE_CASE</a:t>
            </a:r>
          </a:p>
        </p:txBody>
      </p:sp>
      <p:pic>
        <p:nvPicPr>
          <p:cNvPr id="5" name="Content Placeholder 4" descr="A bird with red head and yellow eyes&#10;&#10;Implying.... just don't use this case.">
            <a:extLst>
              <a:ext uri="{FF2B5EF4-FFF2-40B4-BE49-F238E27FC236}">
                <a16:creationId xmlns:a16="http://schemas.microsoft.com/office/drawing/2014/main" id="{17C582D9-B481-2150-14F3-3A59766C37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868" y="1825625"/>
            <a:ext cx="8288263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E71CCE-3FE6-42D4-245C-70457877294B}"/>
              </a:ext>
            </a:extLst>
          </p:cNvPr>
          <p:cNvSpPr txBox="1"/>
          <p:nvPr/>
        </p:nvSpPr>
        <p:spPr>
          <a:xfrm>
            <a:off x="5037826" y="5495026"/>
            <a:ext cx="1871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Just Don’t</a:t>
            </a:r>
          </a:p>
        </p:txBody>
      </p:sp>
    </p:spTree>
    <p:extLst>
      <p:ext uri="{BB962C8B-B14F-4D97-AF65-F5344CB8AC3E}">
        <p14:creationId xmlns:p14="http://schemas.microsoft.com/office/powerpoint/2010/main" val="3232361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5BF8-BD3E-02D1-37A2-68EF19B9D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Self-Documenting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9D359-49F5-C96F-D427-7FF149C16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Code that is self explanatory and requires no comments.</a:t>
            </a:r>
          </a:p>
          <a:p>
            <a:r>
              <a:rPr lang="en-AU" dirty="0"/>
              <a:t>The aim here is to make your code read easily without the need to explain or elaborate. At least to other programmers.</a:t>
            </a:r>
          </a:p>
          <a:p>
            <a:r>
              <a:rPr lang="en-AU" dirty="0"/>
              <a:t>Name variables clearly.</a:t>
            </a:r>
          </a:p>
          <a:p>
            <a:r>
              <a:rPr lang="en-AU" dirty="0"/>
              <a:t>Use verbose names to make their use/purpose clear.</a:t>
            </a:r>
          </a:p>
          <a:p>
            <a:r>
              <a:rPr lang="en-AU" dirty="0"/>
              <a:t>Use the IDE and language syntax to layout code. Don’t fight the auto-formatting.</a:t>
            </a:r>
          </a:p>
          <a:p>
            <a:r>
              <a:rPr lang="en-AU" dirty="0"/>
              <a:t>Use Curly Braces to identify blocks.</a:t>
            </a:r>
          </a:p>
          <a:p>
            <a:r>
              <a:rPr lang="en-AU" dirty="0"/>
              <a:t>Avoid “Magic Numbers”.</a:t>
            </a:r>
          </a:p>
          <a:p>
            <a:r>
              <a:rPr lang="en-AU" dirty="0"/>
              <a:t>Avoid Complex Code.</a:t>
            </a:r>
          </a:p>
        </p:txBody>
      </p:sp>
    </p:spTree>
    <p:extLst>
      <p:ext uri="{BB962C8B-B14F-4D97-AF65-F5344CB8AC3E}">
        <p14:creationId xmlns:p14="http://schemas.microsoft.com/office/powerpoint/2010/main" val="581172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E164A-A106-5C5D-51A0-43E97601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Self-Documenting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A9741D-E2FD-FCA7-922E-55567797F86F}"/>
              </a:ext>
            </a:extLst>
          </p:cNvPr>
          <p:cNvSpPr txBox="1"/>
          <p:nvPr/>
        </p:nvSpPr>
        <p:spPr>
          <a:xfrm>
            <a:off x="3556362" y="2812211"/>
            <a:ext cx="507927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AU" sz="3600" b="0" i="0" u="none" strike="noStrike" baseline="0" dirty="0"/>
              <a:t>if (date - </a:t>
            </a:r>
            <a:r>
              <a:rPr lang="en-AU" sz="3600" b="0" i="0" u="none" strike="noStrike" baseline="0" dirty="0" err="1"/>
              <a:t>temp.date</a:t>
            </a:r>
            <a:r>
              <a:rPr lang="en-AU" sz="3600" b="0" i="0" u="none" strike="noStrike" baseline="0" dirty="0"/>
              <a:t> &gt;= 65)</a:t>
            </a:r>
          </a:p>
          <a:p>
            <a:pPr marL="0" indent="0">
              <a:buNone/>
            </a:pPr>
            <a:r>
              <a:rPr lang="en-AU" sz="3600" b="0" i="0" u="none" strike="noStrike" baseline="0" dirty="0"/>
              <a:t>{ </a:t>
            </a:r>
          </a:p>
          <a:p>
            <a:pPr marL="0" indent="0">
              <a:buNone/>
            </a:pPr>
            <a:r>
              <a:rPr lang="en-AU" sz="3600" b="0" i="0" u="none" strike="noStrike" baseline="0" dirty="0"/>
              <a:t>	</a:t>
            </a:r>
            <a:r>
              <a:rPr lang="en-AU" sz="3600" b="0" i="0" u="none" strike="noStrike" baseline="0" dirty="0" err="1"/>
              <a:t>temp.oap</a:t>
            </a:r>
            <a:r>
              <a:rPr lang="en-AU" sz="3600" b="0" i="0" u="none" strike="noStrike" baseline="0" dirty="0"/>
              <a:t> = true; </a:t>
            </a:r>
          </a:p>
          <a:p>
            <a:pPr marL="0" indent="0">
              <a:buNone/>
            </a:pPr>
            <a:r>
              <a:rPr lang="en-AU" sz="3600" b="0" i="0" u="none" strike="noStrike" baseline="0" dirty="0"/>
              <a:t>} 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3274952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E164A-A106-5C5D-51A0-43E97601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Self-Documenting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A9741D-E2FD-FCA7-922E-55567797F86F}"/>
              </a:ext>
            </a:extLst>
          </p:cNvPr>
          <p:cNvSpPr txBox="1"/>
          <p:nvPr/>
        </p:nvSpPr>
        <p:spPr>
          <a:xfrm>
            <a:off x="1582136" y="2829463"/>
            <a:ext cx="902772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AU" sz="3600" b="0" i="0" u="none" strike="noStrike" baseline="0" dirty="0"/>
              <a:t>if (</a:t>
            </a:r>
            <a:r>
              <a:rPr lang="en-AU" sz="3600" b="0" i="0" u="none" strike="noStrike" baseline="0" dirty="0" err="1"/>
              <a:t>todaysDate</a:t>
            </a:r>
            <a:r>
              <a:rPr lang="en-AU" sz="3600" b="0" i="0" u="none" strike="noStrike" baseline="0" dirty="0"/>
              <a:t> - </a:t>
            </a:r>
            <a:r>
              <a:rPr lang="en-AU" sz="3600" b="0" i="0" u="none" strike="noStrike" baseline="0" dirty="0" err="1"/>
              <a:t>tempCustomer.birthDate</a:t>
            </a:r>
            <a:r>
              <a:rPr lang="en-AU" sz="3600" b="0" i="0" u="none" strike="noStrike" baseline="0" dirty="0"/>
              <a:t> &gt;= 65)</a:t>
            </a:r>
          </a:p>
          <a:p>
            <a:pPr marL="0" indent="0">
              <a:buNone/>
            </a:pPr>
            <a:r>
              <a:rPr lang="en-AU" sz="3600" b="0" i="0" u="none" strike="noStrike" baseline="0" dirty="0"/>
              <a:t>{ </a:t>
            </a:r>
          </a:p>
          <a:p>
            <a:pPr marL="0" indent="0">
              <a:buNone/>
            </a:pPr>
            <a:r>
              <a:rPr lang="en-AU" sz="3600" b="0" i="0" u="none" strike="noStrike" baseline="0" dirty="0"/>
              <a:t>	 </a:t>
            </a:r>
            <a:r>
              <a:rPr lang="en-AU" sz="3600" b="0" i="0" u="none" strike="noStrike" baseline="0" dirty="0" err="1"/>
              <a:t>tempCustomer.isOldAgePensioner</a:t>
            </a:r>
            <a:r>
              <a:rPr lang="en-AU" sz="3600" b="0" i="0" u="none" strike="noStrike" baseline="0" dirty="0"/>
              <a:t> = true; </a:t>
            </a:r>
          </a:p>
          <a:p>
            <a:pPr marL="0" indent="0">
              <a:buNone/>
            </a:pPr>
            <a:r>
              <a:rPr lang="en-AU" sz="3600" b="0" i="0" u="none" strike="noStrike" baseline="0" dirty="0"/>
              <a:t>} </a:t>
            </a:r>
            <a:endParaRPr lang="en-AU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BB44E6-2776-CA1A-4E02-C3B83D954A39}"/>
              </a:ext>
            </a:extLst>
          </p:cNvPr>
          <p:cNvSpPr txBox="1"/>
          <p:nvPr/>
        </p:nvSpPr>
        <p:spPr>
          <a:xfrm>
            <a:off x="1452293" y="5693434"/>
            <a:ext cx="9345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Verbose (descriptive) variable names help understand context and therefore intent with the code.</a:t>
            </a:r>
          </a:p>
          <a:p>
            <a:pPr algn="ctr"/>
            <a:r>
              <a:rPr lang="en-AU" b="1" dirty="0"/>
              <a:t>Can this code be improved further?</a:t>
            </a:r>
          </a:p>
        </p:txBody>
      </p:sp>
    </p:spTree>
    <p:extLst>
      <p:ext uri="{BB962C8B-B14F-4D97-AF65-F5344CB8AC3E}">
        <p14:creationId xmlns:p14="http://schemas.microsoft.com/office/powerpoint/2010/main" val="2260622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39171-3560-92BE-FFC9-76BA1330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Code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B0B00-F2F7-AAAD-8C3F-698DDBECB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How does this code work?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3BF3E4-16FA-223D-591C-F5ACDA3D3F46}"/>
              </a:ext>
            </a:extLst>
          </p:cNvPr>
          <p:cNvSpPr txBox="1"/>
          <p:nvPr/>
        </p:nvSpPr>
        <p:spPr>
          <a:xfrm>
            <a:off x="1573255" y="3528204"/>
            <a:ext cx="9138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0" i="0" u="none" strike="noStrike" baseline="0" dirty="0"/>
              <a:t>group = age &gt; 17 ? age &gt; 70 ? pensioner : adult : child;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535823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39171-3560-92BE-FFC9-76BA1330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Code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B0B00-F2F7-AAAD-8C3F-698DDBECB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Nested Ternary If - (&lt;Condition&gt; ? &lt;True&gt; : &lt;False&gt;)</a:t>
            </a:r>
          </a:p>
          <a:p>
            <a:r>
              <a:rPr lang="en-AU" dirty="0"/>
              <a:t>Below is the highlighted first ternary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3BF3E4-16FA-223D-591C-F5ACDA3D3F46}"/>
              </a:ext>
            </a:extLst>
          </p:cNvPr>
          <p:cNvSpPr txBox="1"/>
          <p:nvPr/>
        </p:nvSpPr>
        <p:spPr>
          <a:xfrm>
            <a:off x="1573255" y="3528204"/>
            <a:ext cx="9388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0" i="0" u="none" strike="noStrike" baseline="0" dirty="0"/>
              <a:t>group = </a:t>
            </a:r>
            <a:r>
              <a:rPr lang="en-AU" sz="3200" b="0" i="0" u="none" strike="noStrike" baseline="0" dirty="0">
                <a:solidFill>
                  <a:schemeClr val="accent4">
                    <a:lumMod val="75000"/>
                  </a:schemeClr>
                </a:solidFill>
              </a:rPr>
              <a:t>age &gt; 17</a:t>
            </a:r>
            <a:r>
              <a:rPr lang="en-AU" sz="32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en-AU" sz="3200" b="0" i="0" u="none" strike="noStrike" baseline="0" dirty="0"/>
              <a:t>? </a:t>
            </a:r>
            <a:r>
              <a:rPr lang="en-AU" sz="3200" b="0" i="0" u="none" strike="noStrike" baseline="0" dirty="0">
                <a:solidFill>
                  <a:schemeClr val="accent6"/>
                </a:solidFill>
              </a:rPr>
              <a:t>(age &gt; 70 ? pensioner : adult) </a:t>
            </a:r>
            <a:r>
              <a:rPr lang="en-AU" sz="3200" b="0" i="0" u="none" strike="noStrike" baseline="0" dirty="0"/>
              <a:t>:</a:t>
            </a:r>
            <a:r>
              <a:rPr lang="en-AU" sz="32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en-AU" sz="3200" b="0" i="0" u="none" strike="noStrike" baseline="0" dirty="0">
                <a:solidFill>
                  <a:srgbClr val="FF0000"/>
                </a:solidFill>
              </a:rPr>
              <a:t>child;</a:t>
            </a:r>
            <a:endParaRPr lang="en-AU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13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39171-3560-92BE-FFC9-76BA1330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Code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B0B00-F2F7-AAAD-8C3F-698DDBECB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Highlighted inner ternary.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3BF3E4-16FA-223D-591C-F5ACDA3D3F46}"/>
              </a:ext>
            </a:extLst>
          </p:cNvPr>
          <p:cNvSpPr txBox="1"/>
          <p:nvPr/>
        </p:nvSpPr>
        <p:spPr>
          <a:xfrm>
            <a:off x="1573255" y="3528204"/>
            <a:ext cx="9388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0" i="0" u="none" strike="noStrike" baseline="0" dirty="0">
                <a:solidFill>
                  <a:schemeClr val="tx1">
                    <a:lumMod val="50000"/>
                  </a:schemeClr>
                </a:solidFill>
              </a:rPr>
              <a:t>group = age &gt; 17 ? </a:t>
            </a:r>
            <a:r>
              <a:rPr lang="en-AU" sz="3200" b="0" i="0" u="none" strike="noStrike" baseline="0" dirty="0"/>
              <a:t>(</a:t>
            </a:r>
            <a:r>
              <a:rPr lang="en-AU" sz="3200" b="0" i="0" u="none" strike="noStrike" baseline="0" dirty="0">
                <a:solidFill>
                  <a:schemeClr val="accent4">
                    <a:lumMod val="75000"/>
                  </a:schemeClr>
                </a:solidFill>
              </a:rPr>
              <a:t>age &gt; 70 </a:t>
            </a:r>
            <a:r>
              <a:rPr lang="en-AU" sz="3200" b="0" i="0" u="none" strike="noStrike" baseline="0" dirty="0"/>
              <a:t>? </a:t>
            </a:r>
            <a:r>
              <a:rPr lang="en-AU" sz="3200" b="0" i="0" u="none" strike="noStrike" baseline="0" dirty="0">
                <a:solidFill>
                  <a:schemeClr val="accent6"/>
                </a:solidFill>
              </a:rPr>
              <a:t>pensioner</a:t>
            </a:r>
            <a:r>
              <a:rPr lang="en-AU" sz="3200" b="0" i="0" u="none" strike="noStrike" baseline="0" dirty="0"/>
              <a:t> : </a:t>
            </a:r>
            <a:r>
              <a:rPr lang="en-AU" sz="3200" b="0" i="0" u="none" strike="noStrike" baseline="0" dirty="0">
                <a:solidFill>
                  <a:srgbClr val="FF0000"/>
                </a:solidFill>
              </a:rPr>
              <a:t>adult</a:t>
            </a:r>
            <a:r>
              <a:rPr lang="en-AU" sz="3200" b="0" i="0" u="none" strike="noStrike" baseline="0" dirty="0"/>
              <a:t>) </a:t>
            </a:r>
            <a:r>
              <a:rPr lang="en-AU" sz="3200" b="0" i="0" u="none" strike="noStrike" baseline="0" dirty="0">
                <a:solidFill>
                  <a:schemeClr val="tx1">
                    <a:lumMod val="50000"/>
                  </a:schemeClr>
                </a:solidFill>
              </a:rPr>
              <a:t>: child;</a:t>
            </a:r>
            <a:endParaRPr lang="en-AU" sz="32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838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40FBC-48BB-CF33-0BF9-A218E5F7E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Code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8B44F-8193-BC19-7A28-28375418B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about this? Its not too difficult but what is the point?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61B025-7897-2CB5-A815-D04C60C9EA2E}"/>
              </a:ext>
            </a:extLst>
          </p:cNvPr>
          <p:cNvSpPr txBox="1"/>
          <p:nvPr/>
        </p:nvSpPr>
        <p:spPr>
          <a:xfrm>
            <a:off x="911525" y="3472591"/>
            <a:ext cx="10368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0" i="0" u="none" strike="noStrike" baseline="0" dirty="0"/>
              <a:t>Box </a:t>
            </a:r>
            <a:r>
              <a:rPr lang="en-AU" sz="3200" b="0" i="0" u="none" strike="noStrike" baseline="0" dirty="0" err="1"/>
              <a:t>box</a:t>
            </a:r>
            <a:r>
              <a:rPr lang="en-AU" sz="3200" b="0" i="0" u="none" strike="noStrike" baseline="0" dirty="0"/>
              <a:t> = new Box(new Point(50, 50), new Size (100, 100));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399902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40FBC-48BB-CF33-0BF9-A218E5F7E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Code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8B44F-8193-BC19-7A28-28375418B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Contextualise the point.</a:t>
            </a:r>
          </a:p>
          <a:p>
            <a:r>
              <a:rPr lang="en-AU" dirty="0"/>
              <a:t>Consider memory implication / variable life-cycle here but is it worth the improved readability?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61B025-7897-2CB5-A815-D04C60C9EA2E}"/>
              </a:ext>
            </a:extLst>
          </p:cNvPr>
          <p:cNvSpPr txBox="1"/>
          <p:nvPr/>
        </p:nvSpPr>
        <p:spPr>
          <a:xfrm>
            <a:off x="2523226" y="3593360"/>
            <a:ext cx="7145547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AU" sz="3200" b="0" i="0" u="none" strike="noStrike" baseline="0" dirty="0"/>
              <a:t>Point </a:t>
            </a:r>
            <a:r>
              <a:rPr lang="en-AU" sz="3200" b="0" i="0" u="none" strike="noStrike" baseline="0" dirty="0" err="1"/>
              <a:t>boxPosition</a:t>
            </a:r>
            <a:r>
              <a:rPr lang="en-AU" sz="3200" b="0" i="0" u="none" strike="noStrike" baseline="0" dirty="0"/>
              <a:t> = new Point(50, 50);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AU" sz="3200" b="0" i="0" u="none" strike="noStrike" baseline="0" dirty="0"/>
              <a:t>Size </a:t>
            </a:r>
            <a:r>
              <a:rPr lang="en-AU" sz="3200" b="0" i="0" u="none" strike="noStrike" baseline="0" dirty="0" err="1"/>
              <a:t>boxSize</a:t>
            </a:r>
            <a:r>
              <a:rPr lang="en-AU" sz="3200" b="0" i="0" u="none" strike="noStrike" baseline="0" dirty="0"/>
              <a:t> = new Size(100, 100);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AU" sz="4400" b="0" i="0" u="none" strike="noStrike" baseline="0" dirty="0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AU" sz="3200" b="0" i="0" u="none" strike="noStrike" baseline="0" dirty="0"/>
              <a:t>Box </a:t>
            </a:r>
            <a:r>
              <a:rPr lang="en-AU" sz="3200" b="0" i="0" u="none" strike="noStrike" baseline="0" dirty="0" err="1"/>
              <a:t>box</a:t>
            </a:r>
            <a:r>
              <a:rPr lang="en-AU" sz="3200" b="0" i="0" u="none" strike="noStrike" baseline="0" dirty="0"/>
              <a:t> = new Box(</a:t>
            </a:r>
            <a:r>
              <a:rPr lang="en-AU" sz="3200" b="0" i="0" u="none" strike="noStrike" baseline="0" dirty="0" err="1"/>
              <a:t>boxPosition</a:t>
            </a:r>
            <a:r>
              <a:rPr lang="en-AU" sz="3200" b="0" i="0" u="none" strike="noStrike" baseline="0" dirty="0"/>
              <a:t>, </a:t>
            </a:r>
            <a:r>
              <a:rPr lang="en-AU" sz="3200" b="0" i="0" u="none" strike="noStrike" baseline="0" dirty="0" err="1"/>
              <a:t>boxSize</a:t>
            </a:r>
            <a:r>
              <a:rPr lang="en-AU" sz="3200" b="0" i="0" u="none" strike="noStrike" baseline="0" dirty="0"/>
              <a:t>);</a:t>
            </a:r>
            <a:endParaRPr lang="en-AU" sz="4400" dirty="0"/>
          </a:p>
        </p:txBody>
      </p:sp>
    </p:spTree>
    <p:extLst>
      <p:ext uri="{BB962C8B-B14F-4D97-AF65-F5344CB8AC3E}">
        <p14:creationId xmlns:p14="http://schemas.microsoft.com/office/powerpoint/2010/main" val="3558845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D375E-0132-4800-BE67-A84F3A4C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Code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E5C9D-8FBE-842A-0F55-F388C7B33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AU" dirty="0"/>
              <a:t>Complex code is unreadable</a:t>
            </a:r>
          </a:p>
          <a:p>
            <a:pPr>
              <a:lnSpc>
                <a:spcPct val="150000"/>
              </a:lnSpc>
            </a:pPr>
            <a:r>
              <a:rPr lang="en-AU" dirty="0"/>
              <a:t>Can be a push for performance or showmanship.</a:t>
            </a:r>
          </a:p>
          <a:p>
            <a:pPr>
              <a:lnSpc>
                <a:spcPct val="150000"/>
              </a:lnSpc>
            </a:pPr>
            <a:r>
              <a:rPr lang="en-AU" dirty="0"/>
              <a:t>Computational capacity has increased to the point (unless that’s your target platform and or low level applications software is the goal) that we can focus more on developer friendly over </a:t>
            </a:r>
            <a:r>
              <a:rPr lang="en-AU" dirty="0" err="1"/>
              <a:t>ms</a:t>
            </a:r>
            <a:r>
              <a:rPr lang="en-AU" dirty="0"/>
              <a:t> of speed.</a:t>
            </a:r>
          </a:p>
          <a:p>
            <a:pPr>
              <a:lnSpc>
                <a:spcPct val="150000"/>
              </a:lnSpc>
            </a:pPr>
            <a:r>
              <a:rPr lang="en-AU" dirty="0"/>
              <a:t>It’s a trade off and a judgement call you may have to (or have no choice in making).</a:t>
            </a:r>
          </a:p>
        </p:txBody>
      </p:sp>
    </p:spTree>
    <p:extLst>
      <p:ext uri="{BB962C8B-B14F-4D97-AF65-F5344CB8AC3E}">
        <p14:creationId xmlns:p14="http://schemas.microsoft.com/office/powerpoint/2010/main" val="4069069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1AF1A-E921-1853-B626-3B4B21F36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44F21-AB66-54ED-2A30-F7E6EE99B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Self documentation &gt; Comments</a:t>
            </a:r>
          </a:p>
          <a:p>
            <a:r>
              <a:rPr lang="en-AU" dirty="0"/>
              <a:t>Classes and methods should have short comments to describe them and their signature to others.</a:t>
            </a:r>
          </a:p>
          <a:p>
            <a:r>
              <a:rPr lang="en-AU" dirty="0"/>
              <a:t>Remember XML (///) comments above those classes properties and methods will insert a full comment that Visual Studio will use within tooltips.</a:t>
            </a:r>
          </a:p>
          <a:p>
            <a:r>
              <a:rPr lang="en-AU" dirty="0"/>
              <a:t>Explain what its doing, if difficult or lengthy explain why.</a:t>
            </a:r>
          </a:p>
          <a:p>
            <a:r>
              <a:rPr lang="en-AU" dirty="0"/>
              <a:t>Detail limitations or unique functionality – anything that deviates from standard or expectations.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4414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7F463-0C80-2C2D-079F-687847E12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Coding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D7F8C-98D9-F59D-B6E1-F8B8ED0A7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dirty="0"/>
              <a:t>Classes do one job.</a:t>
            </a:r>
          </a:p>
          <a:p>
            <a:pPr>
              <a:lnSpc>
                <a:spcPct val="150000"/>
              </a:lnSpc>
            </a:pPr>
            <a:r>
              <a:rPr lang="en-AU" dirty="0"/>
              <a:t>Each class in a separate file.</a:t>
            </a:r>
          </a:p>
          <a:p>
            <a:pPr>
              <a:lnSpc>
                <a:spcPct val="150000"/>
              </a:lnSpc>
            </a:pPr>
            <a:r>
              <a:rPr lang="en-AU" dirty="0"/>
              <a:t>Separation is good.</a:t>
            </a:r>
          </a:p>
          <a:p>
            <a:pPr>
              <a:lnSpc>
                <a:spcPct val="150000"/>
              </a:lnSpc>
            </a:pPr>
            <a:r>
              <a:rPr lang="en-AU" dirty="0"/>
              <a:t>Helping to decouple and allow reusability.</a:t>
            </a:r>
          </a:p>
          <a:p>
            <a:pPr>
              <a:lnSpc>
                <a:spcPct val="150000"/>
              </a:lnSpc>
            </a:pPr>
            <a:r>
              <a:rPr lang="en-AU" dirty="0"/>
              <a:t>Helping to organise code into sections or areas.</a:t>
            </a:r>
          </a:p>
        </p:txBody>
      </p:sp>
    </p:spTree>
    <p:extLst>
      <p:ext uri="{BB962C8B-B14F-4D97-AF65-F5344CB8AC3E}">
        <p14:creationId xmlns:p14="http://schemas.microsoft.com/office/powerpoint/2010/main" val="1314656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3D70D-5844-57BD-BB19-CDDD974B5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Model View Controller (MVC)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788D3-C0A4-D307-8E37-799A6F9A2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Design pattern – Keeping things organised.</a:t>
            </a:r>
            <a:endParaRPr lang="en-AU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AU" dirty="0"/>
              <a:t>Other options – MVVM, Viper, MVP etc…</a:t>
            </a:r>
          </a:p>
          <a:p>
            <a:pPr>
              <a:lnSpc>
                <a:spcPct val="150000"/>
              </a:lnSpc>
            </a:pPr>
            <a:r>
              <a:rPr lang="en-AU" dirty="0"/>
              <a:t>MVC is commonly used by a lot of frameworks and applications. </a:t>
            </a:r>
          </a:p>
          <a:p>
            <a:pPr>
              <a:lnSpc>
                <a:spcPct val="150000"/>
              </a:lnSpc>
            </a:pPr>
            <a:r>
              <a:rPr lang="en-AU" dirty="0"/>
              <a:t>Easy to understand, can be difficult depending on project </a:t>
            </a:r>
            <a:endParaRPr lang="en-AU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AU" dirty="0"/>
              <a:t>However, can be done simply too.</a:t>
            </a:r>
          </a:p>
        </p:txBody>
      </p:sp>
    </p:spTree>
    <p:extLst>
      <p:ext uri="{BB962C8B-B14F-4D97-AF65-F5344CB8AC3E}">
        <p14:creationId xmlns:p14="http://schemas.microsoft.com/office/powerpoint/2010/main" val="309688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3D70D-5844-57BD-BB19-CDDD974B5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Model View Controller (MVC)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788D3-C0A4-D307-8E37-799A6F9A2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 dirty="0"/>
              <a:t>The idea is the split the code into three parts:</a:t>
            </a:r>
          </a:p>
          <a:p>
            <a:pPr>
              <a:lnSpc>
                <a:spcPct val="150000"/>
              </a:lnSpc>
            </a:pPr>
            <a:r>
              <a:rPr lang="en-AU">
                <a:cs typeface="Calibri" panose="020F0502020204030204"/>
              </a:rPr>
              <a:t>Data Model</a:t>
            </a:r>
            <a:endParaRPr lang="en-AU" dirty="0"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AU">
                <a:cs typeface="Calibri" panose="020F0502020204030204"/>
              </a:rPr>
              <a:t>View</a:t>
            </a:r>
          </a:p>
          <a:p>
            <a:pPr>
              <a:lnSpc>
                <a:spcPct val="150000"/>
              </a:lnSpc>
            </a:pPr>
            <a:r>
              <a:rPr lang="en-AU">
                <a:cs typeface="Calibri" panose="020F0502020204030204"/>
              </a:rPr>
              <a:t>View Controller</a:t>
            </a:r>
          </a:p>
          <a:p>
            <a:r>
              <a:rPr lang="en-AU" dirty="0">
                <a:cs typeface="Calibri" panose="020F0502020204030204"/>
              </a:rPr>
              <a:t>Each part can be multiple classes, but each class should only belong to one part.</a:t>
            </a:r>
          </a:p>
        </p:txBody>
      </p:sp>
    </p:spTree>
    <p:extLst>
      <p:ext uri="{BB962C8B-B14F-4D97-AF65-F5344CB8AC3E}">
        <p14:creationId xmlns:p14="http://schemas.microsoft.com/office/powerpoint/2010/main" val="3327082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8394F-CD18-DD28-FFF5-5549F01B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The Data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9A59F-58BA-F612-2536-84BA717AC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cs typeface="Calibri"/>
              </a:rPr>
              <a:t>Represents but may store and manipulate data for the app.</a:t>
            </a:r>
          </a:p>
          <a:p>
            <a:pPr>
              <a:lnSpc>
                <a:spcPct val="150000"/>
              </a:lnSpc>
            </a:pPr>
            <a:r>
              <a:rPr lang="en-US" dirty="0">
                <a:cs typeface="Calibri"/>
              </a:rPr>
              <a:t>Terms: Data Model, Data Layer, Repository...</a:t>
            </a:r>
          </a:p>
          <a:p>
            <a:pPr>
              <a:lnSpc>
                <a:spcPct val="150000"/>
              </a:lnSpc>
            </a:pPr>
            <a:r>
              <a:rPr lang="en-US" dirty="0">
                <a:cs typeface="Calibri"/>
              </a:rPr>
              <a:t>May perform searching sorting loading and filtering of data.</a:t>
            </a:r>
          </a:p>
          <a:p>
            <a:pPr>
              <a:lnSpc>
                <a:spcPct val="150000"/>
              </a:lnSpc>
            </a:pPr>
            <a:r>
              <a:rPr lang="en-US" dirty="0">
                <a:cs typeface="Calibri"/>
              </a:rPr>
              <a:t>Does not contain or understand how the data is displayed.</a:t>
            </a:r>
          </a:p>
          <a:p>
            <a:pPr>
              <a:lnSpc>
                <a:spcPct val="150000"/>
              </a:lnSpc>
            </a:pPr>
            <a:r>
              <a:rPr lang="en-US" dirty="0">
                <a:cs typeface="Calibri"/>
              </a:rPr>
              <a:t>No UI controls or elements: no 'using' of window or control classes!</a:t>
            </a:r>
          </a:p>
          <a:p>
            <a:pPr>
              <a:lnSpc>
                <a:spcPct val="150000"/>
              </a:lnSpc>
            </a:pPr>
            <a:r>
              <a:rPr lang="en-US" dirty="0">
                <a:cs typeface="Calibri"/>
              </a:rPr>
              <a:t>May debug for alternative output (but not user view).</a:t>
            </a:r>
          </a:p>
        </p:txBody>
      </p:sp>
    </p:spTree>
    <p:extLst>
      <p:ext uri="{BB962C8B-B14F-4D97-AF65-F5344CB8AC3E}">
        <p14:creationId xmlns:p14="http://schemas.microsoft.com/office/powerpoint/2010/main" val="1302189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B7657-B356-86F7-1239-2B150E2B5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The 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69B42-7EA0-0807-D42F-607401DB5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>
                <a:cs typeface="Calibri"/>
              </a:rPr>
              <a:t>Interface only.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dirty="0">
                <a:cs typeface="Calibri"/>
              </a:rPr>
              <a:t>In MAUI, the XAML is the view or by extension the view and its code behind can be also considered.</a:t>
            </a:r>
          </a:p>
          <a:p>
            <a:pPr>
              <a:lnSpc>
                <a:spcPct val="150000"/>
              </a:lnSpc>
            </a:pPr>
            <a:r>
              <a:rPr lang="en-US" dirty="0">
                <a:cs typeface="Calibri"/>
              </a:rPr>
              <a:t>The code behind can create and manipulate the UI by adding elements and controls directly to the UI. </a:t>
            </a:r>
            <a:r>
              <a:rPr lang="en-US" i="1" dirty="0">
                <a:cs typeface="Calibri"/>
              </a:rPr>
              <a:t>(See Session 4 tutorial)</a:t>
            </a:r>
          </a:p>
        </p:txBody>
      </p:sp>
    </p:spTree>
    <p:extLst>
      <p:ext uri="{BB962C8B-B14F-4D97-AF65-F5344CB8AC3E}">
        <p14:creationId xmlns:p14="http://schemas.microsoft.com/office/powerpoint/2010/main" val="375331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E3CB5-BEB5-E343-F194-DB2F1EAB5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View Controller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B40EF-60AA-2AE2-7B89-033484629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cs typeface="Calibri"/>
              </a:rPr>
              <a:t>Communicates between the view and model passing information and action back and forth.</a:t>
            </a:r>
          </a:p>
          <a:p>
            <a:r>
              <a:rPr lang="en-US" dirty="0">
                <a:cs typeface="Calibri"/>
              </a:rPr>
              <a:t>User input from view is given to the controller to perform actions that update or return a model.</a:t>
            </a:r>
          </a:p>
          <a:p>
            <a:r>
              <a:rPr lang="en-US" dirty="0">
                <a:cs typeface="Calibri"/>
              </a:rPr>
              <a:t>The model updates the view with the latest data.</a:t>
            </a:r>
          </a:p>
          <a:p>
            <a:r>
              <a:rPr lang="en-US" dirty="0">
                <a:cs typeface="Calibri"/>
              </a:rPr>
              <a:t>Does not imply but works well with data binding.</a:t>
            </a:r>
          </a:p>
          <a:p>
            <a:r>
              <a:rPr lang="en-US" dirty="0">
                <a:cs typeface="Calibri"/>
              </a:rPr>
              <a:t>We can consider in a simpler form the code behind as a controller for the view. </a:t>
            </a:r>
          </a:p>
          <a:p>
            <a:r>
              <a:rPr lang="en-US" dirty="0">
                <a:cs typeface="Calibri"/>
              </a:rPr>
              <a:t>In a bid for complete controller view de-coupling, a separate controller class can be implemented and therefore reused.</a:t>
            </a:r>
          </a:p>
        </p:txBody>
      </p:sp>
    </p:spTree>
    <p:extLst>
      <p:ext uri="{BB962C8B-B14F-4D97-AF65-F5344CB8AC3E}">
        <p14:creationId xmlns:p14="http://schemas.microsoft.com/office/powerpoint/2010/main" val="3729051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75AD2-64A7-B2EE-95E1-5CB3FBB0B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Why MVC?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D7707-F6FF-784A-E6E6-459630305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cs typeface="Calibri"/>
              </a:rPr>
              <a:t>Decoupling, keeping the software and code </a:t>
            </a:r>
            <a:r>
              <a:rPr lang="en-US" dirty="0" err="1">
                <a:cs typeface="Calibri"/>
              </a:rPr>
              <a:t>organised</a:t>
            </a:r>
            <a:r>
              <a:rPr lang="en-US" dirty="0">
                <a:cs typeface="Calibri"/>
              </a:rPr>
              <a:t> and discrete.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dirty="0">
                <a:cs typeface="Calibri"/>
              </a:rPr>
              <a:t>Easier to maintain</a:t>
            </a:r>
          </a:p>
          <a:p>
            <a:pPr>
              <a:lnSpc>
                <a:spcPct val="150000"/>
              </a:lnSpc>
            </a:pPr>
            <a:r>
              <a:rPr lang="en-US" dirty="0">
                <a:cs typeface="Calibri"/>
              </a:rPr>
              <a:t>Easier to test</a:t>
            </a:r>
          </a:p>
          <a:p>
            <a:pPr>
              <a:lnSpc>
                <a:spcPct val="150000"/>
              </a:lnSpc>
            </a:pPr>
            <a:r>
              <a:rPr lang="en-US" dirty="0">
                <a:cs typeface="Calibri"/>
              </a:rPr>
              <a:t>Better code reuse</a:t>
            </a:r>
          </a:p>
          <a:p>
            <a:pPr>
              <a:lnSpc>
                <a:spcPct val="150000"/>
              </a:lnSpc>
            </a:pPr>
            <a:r>
              <a:rPr lang="en-US" dirty="0">
                <a:cs typeface="Calibri"/>
              </a:rPr>
              <a:t>Easy to replace or update components.</a:t>
            </a:r>
          </a:p>
        </p:txBody>
      </p:sp>
    </p:spTree>
    <p:extLst>
      <p:ext uri="{BB962C8B-B14F-4D97-AF65-F5344CB8AC3E}">
        <p14:creationId xmlns:p14="http://schemas.microsoft.com/office/powerpoint/2010/main" val="3266343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6FE26-4FD8-8A5C-C98B-78123467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91C35-E633-6912-CC3E-3602BA9DE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Follow coding standards and naming conventions - camelCase/</a:t>
            </a:r>
            <a:r>
              <a:rPr lang="en-US" dirty="0" err="1">
                <a:cs typeface="Calibri"/>
              </a:rPr>
              <a:t>PascalCase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Good variable names – Verbose</a:t>
            </a:r>
          </a:p>
          <a:p>
            <a:r>
              <a:rPr lang="en-US" dirty="0">
                <a:cs typeface="Calibri"/>
              </a:rPr>
              <a:t>Avoid magic numbers - 65</a:t>
            </a:r>
          </a:p>
          <a:p>
            <a:r>
              <a:rPr lang="en-US" dirty="0">
                <a:cs typeface="Calibri"/>
              </a:rPr>
              <a:t>Avoid complex code – Nested ternary if</a:t>
            </a:r>
          </a:p>
          <a:p>
            <a:r>
              <a:rPr lang="en-US" dirty="0">
                <a:cs typeface="Calibri"/>
              </a:rPr>
              <a:t>Comments – explain why not how</a:t>
            </a:r>
          </a:p>
          <a:p>
            <a:r>
              <a:rPr lang="en-US" dirty="0">
                <a:cs typeface="Calibri"/>
              </a:rPr>
              <a:t>Separate classes into files – One job.</a:t>
            </a:r>
          </a:p>
          <a:p>
            <a:r>
              <a:rPr lang="en-US" dirty="0">
                <a:cs typeface="Calibri"/>
              </a:rPr>
              <a:t>Apply MVC Principles – Model, View or controller domain.</a:t>
            </a:r>
          </a:p>
        </p:txBody>
      </p:sp>
    </p:spTree>
    <p:extLst>
      <p:ext uri="{BB962C8B-B14F-4D97-AF65-F5344CB8AC3E}">
        <p14:creationId xmlns:p14="http://schemas.microsoft.com/office/powerpoint/2010/main" val="3228924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B652FE9C0E4A4BA617103343675622" ma:contentTypeVersion="18" ma:contentTypeDescription="Create a new document." ma:contentTypeScope="" ma:versionID="bae58d28f6bcbe3bb3f109b07fdc12c9">
  <xsd:schema xmlns:xsd="http://www.w3.org/2001/XMLSchema" xmlns:xs="http://www.w3.org/2001/XMLSchema" xmlns:p="http://schemas.microsoft.com/office/2006/metadata/properties" xmlns:ns3="ca795412-bebd-4315-bf48-ef2a3932babb" xmlns:ns4="15dc33cf-23e6-4c02-8146-51e815ffffa8" targetNamespace="http://schemas.microsoft.com/office/2006/metadata/properties" ma:root="true" ma:fieldsID="eb77d97d031b198cf4d44d6de52204b3" ns3:_="" ns4:_="">
    <xsd:import namespace="ca795412-bebd-4315-bf48-ef2a3932babb"/>
    <xsd:import namespace="15dc33cf-23e6-4c02-8146-51e815ffffa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795412-bebd-4315-bf48-ef2a3932ba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c33cf-23e6-4c02-8146-51e815ffffa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a795412-bebd-4315-bf48-ef2a3932babb" xsi:nil="true"/>
  </documentManagement>
</p:properties>
</file>

<file path=customXml/itemProps1.xml><?xml version="1.0" encoding="utf-8"?>
<ds:datastoreItem xmlns:ds="http://schemas.openxmlformats.org/officeDocument/2006/customXml" ds:itemID="{F018F46F-54EA-4B11-AA8A-17FE88300D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795412-bebd-4315-bf48-ef2a3932babb"/>
    <ds:schemaRef ds:uri="15dc33cf-23e6-4c02-8146-51e815ffff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12B203-938E-4408-873A-BACA9EABB7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80B5B9-C105-42E6-90E6-FC4EA594AC45}">
  <ds:schemaRefs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terms/"/>
    <ds:schemaRef ds:uri="15dc33cf-23e6-4c02-8146-51e815ffffa8"/>
    <ds:schemaRef ds:uri="http://purl.org/dc/dcmitype/"/>
    <ds:schemaRef ds:uri="http://purl.org/dc/elements/1.1/"/>
    <ds:schemaRef ds:uri="http://www.w3.org/XML/1998/namespace"/>
    <ds:schemaRef ds:uri="http://schemas.openxmlformats.org/package/2006/metadata/core-properties"/>
    <ds:schemaRef ds:uri="ca795412-bebd-4315-bf48-ef2a3932bab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1018</Words>
  <Application>Microsoft Office PowerPoint</Application>
  <PresentationFormat>Widescreen</PresentationFormat>
  <Paragraphs>126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Session 5</vt:lpstr>
      <vt:lpstr>Learning Objectives</vt:lpstr>
      <vt:lpstr>Variables / Fields / Properties</vt:lpstr>
      <vt:lpstr>Naming Conventions</vt:lpstr>
      <vt:lpstr>Naming Conventions</vt:lpstr>
      <vt:lpstr>SCREAMING_CASE / UPPER_SNAKE_CASE</vt:lpstr>
      <vt:lpstr>Self-Documenting Code</vt:lpstr>
      <vt:lpstr>Self-Documenting Code</vt:lpstr>
      <vt:lpstr>Self-Documenting Code</vt:lpstr>
      <vt:lpstr>Code Complexity</vt:lpstr>
      <vt:lpstr>Code Complexity</vt:lpstr>
      <vt:lpstr>Code Complexity</vt:lpstr>
      <vt:lpstr>Code Complexity</vt:lpstr>
      <vt:lpstr>Code Complexity</vt:lpstr>
      <vt:lpstr>Code Complexity</vt:lpstr>
      <vt:lpstr>Comments</vt:lpstr>
      <vt:lpstr>Coding Rules</vt:lpstr>
      <vt:lpstr>Model View Controller (MVC)</vt:lpstr>
      <vt:lpstr>Model View Controller (MVC)</vt:lpstr>
      <vt:lpstr>The Data Model</vt:lpstr>
      <vt:lpstr>The View</vt:lpstr>
      <vt:lpstr>View Controller</vt:lpstr>
      <vt:lpstr>Why MVC?</vt:lpstr>
      <vt:lpstr>Summary</vt:lpstr>
    </vt:vector>
  </TitlesOfParts>
  <Company>North Metropolitan TAFE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</dc:title>
  <dc:creator>Aaron Clifford</dc:creator>
  <cp:lastModifiedBy>Aaron Clifford</cp:lastModifiedBy>
  <cp:revision>117</cp:revision>
  <dcterms:created xsi:type="dcterms:W3CDTF">2024-08-13T03:32:17Z</dcterms:created>
  <dcterms:modified xsi:type="dcterms:W3CDTF">2024-08-13T05:26:15Z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ac7e5b-5da2-46c7-8677-8a6b50f7d886_Enabled">
    <vt:lpwstr>true</vt:lpwstr>
  </property>
  <property fmtid="{D5CDD505-2E9C-101B-9397-08002B2CF9AE}" pid="3" name="MSIP_Label_f3ac7e5b-5da2-46c7-8677-8a6b50f7d886_SetDate">
    <vt:lpwstr>2024-08-13T04:16:05Z</vt:lpwstr>
  </property>
  <property fmtid="{D5CDD505-2E9C-101B-9397-08002B2CF9AE}" pid="4" name="MSIP_Label_f3ac7e5b-5da2-46c7-8677-8a6b50f7d886_Method">
    <vt:lpwstr>Standard</vt:lpwstr>
  </property>
  <property fmtid="{D5CDD505-2E9C-101B-9397-08002B2CF9AE}" pid="5" name="MSIP_Label_f3ac7e5b-5da2-46c7-8677-8a6b50f7d886_Name">
    <vt:lpwstr>Official</vt:lpwstr>
  </property>
  <property fmtid="{D5CDD505-2E9C-101B-9397-08002B2CF9AE}" pid="6" name="MSIP_Label_f3ac7e5b-5da2-46c7-8677-8a6b50f7d886_SiteId">
    <vt:lpwstr>218881e8-07ad-4142-87d7-f6b90d17009b</vt:lpwstr>
  </property>
  <property fmtid="{D5CDD505-2E9C-101B-9397-08002B2CF9AE}" pid="7" name="MSIP_Label_f3ac7e5b-5da2-46c7-8677-8a6b50f7d886_ActionId">
    <vt:lpwstr>6fa2fae2-0bd8-4b3f-a2e1-d288e20778ba</vt:lpwstr>
  </property>
  <property fmtid="{D5CDD505-2E9C-101B-9397-08002B2CF9AE}" pid="8" name="MSIP_Label_f3ac7e5b-5da2-46c7-8677-8a6b50f7d886_ContentBits">
    <vt:lpwstr>1</vt:lpwstr>
  </property>
  <property fmtid="{D5CDD505-2E9C-101B-9397-08002B2CF9AE}" pid="9" name="ContentTypeId">
    <vt:lpwstr>0x010100BFB652FE9C0E4A4BA617103343675622</vt:lpwstr>
  </property>
</Properties>
</file>